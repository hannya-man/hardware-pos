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6" d="100"/>
          <a:sy n="106" d="100"/>
        </p:scale>
        <p:origin x="15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037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E"/>
        </a:solidFill>
        <a:effectLst/>
      </p:bgPr>
    </p:bg>
    <p:spTree>
      <p:nvGrpSpPr>
        <p:cNvPr id="1" name=""/>
        <p:cNvGrpSpPr/>
        <p:nvPr/>
      </p:nvGrpSpPr>
      <p:grpSpPr>
        <a:xfrm>
          <a:off x="0" y="0"/>
          <a:ext cx="0" cy="0"/>
          <a:chOff x="0" y="0"/>
          <a:chExt cx="0" cy="0"/>
        </a:xfrm>
      </p:grpSpPr>
      <p:sp>
        <p:nvSpPr>
          <p:cNvPr id="2" name="Shape 0"/>
          <p:cNvSpPr/>
          <p:nvPr/>
        </p:nvSpPr>
        <p:spPr>
          <a:xfrm>
            <a:off x="5592928" y="777240"/>
            <a:ext cx="1005840" cy="1005840"/>
          </a:xfrm>
          <a:prstGeom prst="ellipse">
            <a:avLst/>
          </a:prstGeom>
          <a:solidFill>
            <a:srgbClr val="1E2F47"/>
          </a:solidFill>
          <a:ln/>
        </p:spPr>
        <p:txBody>
          <a:bodyPr/>
          <a:lstStyle/>
          <a:p>
            <a:endParaRPr lang="en-PH">
              <a:latin typeface="Verdana" panose="020B0604030504040204" pitchFamily="34" charset="0"/>
              <a:ea typeface="Verdana" panose="020B0604030504040204" pitchFamily="34" charset="0"/>
            </a:endParaRPr>
          </a:p>
        </p:txBody>
      </p:sp>
      <p:pic>
        <p:nvPicPr>
          <p:cNvPr id="3" name="Image 0" descr="/home/claude/pos-meeting/icons/package_white.png"/>
          <p:cNvPicPr>
            <a:picLocks noChangeAspect="1"/>
          </p:cNvPicPr>
          <p:nvPr/>
        </p:nvPicPr>
        <p:blipFill>
          <a:blip r:embed="rId3"/>
          <a:stretch>
            <a:fillRect/>
          </a:stretch>
        </p:blipFill>
        <p:spPr>
          <a:xfrm>
            <a:off x="5844388" y="1028700"/>
            <a:ext cx="502920" cy="502920"/>
          </a:xfrm>
          <a:prstGeom prst="rect">
            <a:avLst/>
          </a:prstGeom>
        </p:spPr>
      </p:pic>
      <p:sp>
        <p:nvSpPr>
          <p:cNvPr id="4" name="Text 1"/>
          <p:cNvSpPr/>
          <p:nvPr/>
        </p:nvSpPr>
        <p:spPr>
          <a:xfrm>
            <a:off x="0" y="1965960"/>
            <a:ext cx="12191695" cy="365760"/>
          </a:xfrm>
          <a:prstGeom prst="rect">
            <a:avLst/>
          </a:prstGeom>
          <a:noFill/>
          <a:ln/>
        </p:spPr>
        <p:txBody>
          <a:bodyPr wrap="square" rtlCol="0" anchor="ctr"/>
          <a:lstStyle/>
          <a:p>
            <a:pPr marL="0" indent="0" algn="ctr">
              <a:buNone/>
            </a:pPr>
            <a:r>
              <a:rPr lang="en-US" sz="1300" b="1" kern="0" spc="300" dirty="0">
                <a:solidFill>
                  <a:srgbClr val="CADCFC"/>
                </a:solidFill>
                <a:latin typeface="Verdana" panose="020B0604030504040204" pitchFamily="34" charset="0"/>
                <a:ea typeface="Verdana" panose="020B0604030504040204" pitchFamily="34" charset="0"/>
                <a:cs typeface="Calibri" pitchFamily="34" charset="-120"/>
              </a:rPr>
              <a:t>PROJECT PLANNING</a:t>
            </a:r>
            <a:endParaRPr lang="en-US" sz="1300" dirty="0">
              <a:latin typeface="Verdana" panose="020B0604030504040204" pitchFamily="34" charset="0"/>
              <a:ea typeface="Verdana" panose="020B0604030504040204" pitchFamily="34" charset="0"/>
            </a:endParaRPr>
          </a:p>
        </p:txBody>
      </p:sp>
      <p:sp>
        <p:nvSpPr>
          <p:cNvPr id="5" name="Text 2"/>
          <p:cNvSpPr/>
          <p:nvPr/>
        </p:nvSpPr>
        <p:spPr>
          <a:xfrm>
            <a:off x="731520" y="2395728"/>
            <a:ext cx="10728655" cy="960120"/>
          </a:xfrm>
          <a:prstGeom prst="rect">
            <a:avLst/>
          </a:prstGeom>
          <a:noFill/>
          <a:ln/>
        </p:spPr>
        <p:txBody>
          <a:bodyPr wrap="square" rtlCol="0" anchor="ctr"/>
          <a:lstStyle/>
          <a:p>
            <a:pPr marL="0" indent="0" algn="ctr">
              <a:buNone/>
            </a:pPr>
            <a:r>
              <a:rPr lang="en-US" sz="4400" b="1" dirty="0">
                <a:solidFill>
                  <a:srgbClr val="FFFFFF"/>
                </a:solidFill>
                <a:latin typeface="Verdana" panose="020B0604030504040204" pitchFamily="34" charset="0"/>
                <a:ea typeface="Verdana" panose="020B0604030504040204" pitchFamily="34" charset="0"/>
                <a:cs typeface="Cambria" pitchFamily="34" charset="-120"/>
              </a:rPr>
              <a:t>Caidic Hardware POS</a:t>
            </a:r>
            <a:endParaRPr lang="en-US" sz="4400" dirty="0">
              <a:latin typeface="Verdana" panose="020B0604030504040204" pitchFamily="34" charset="0"/>
              <a:ea typeface="Verdana" panose="020B0604030504040204" pitchFamily="34" charset="0"/>
            </a:endParaRPr>
          </a:p>
        </p:txBody>
      </p:sp>
      <p:sp>
        <p:nvSpPr>
          <p:cNvPr id="6" name="Text 3"/>
          <p:cNvSpPr/>
          <p:nvPr/>
        </p:nvSpPr>
        <p:spPr>
          <a:xfrm>
            <a:off x="1188720" y="3456432"/>
            <a:ext cx="9814255" cy="548640"/>
          </a:xfrm>
          <a:prstGeom prst="rect">
            <a:avLst/>
          </a:prstGeom>
          <a:noFill/>
          <a:ln/>
        </p:spPr>
        <p:txBody>
          <a:bodyPr wrap="square" rtlCol="0" anchor="ctr"/>
          <a:lstStyle/>
          <a:p>
            <a:pPr marL="0" indent="0" algn="ctr">
              <a:buNone/>
            </a:pPr>
            <a:r>
              <a:rPr lang="en-US" sz="1700" dirty="0">
                <a:solidFill>
                  <a:srgbClr val="CADCFC"/>
                </a:solidFill>
                <a:latin typeface="Verdana" panose="020B0604030504040204" pitchFamily="34" charset="0"/>
                <a:ea typeface="Verdana" panose="020B0604030504040204" pitchFamily="34" charset="0"/>
                <a:cs typeface="Calibri" pitchFamily="34" charset="-120"/>
              </a:rPr>
              <a:t>A point-of-sales, checkout and inventory system, built for your store</a:t>
            </a:r>
            <a:endParaRPr lang="en-US" sz="1700" dirty="0">
              <a:latin typeface="Verdana" panose="020B0604030504040204" pitchFamily="34" charset="0"/>
              <a:ea typeface="Verdana" panose="020B0604030504040204" pitchFamily="34" charset="0"/>
            </a:endParaRPr>
          </a:p>
        </p:txBody>
      </p:sp>
      <p:sp>
        <p:nvSpPr>
          <p:cNvPr id="7" name="Text 4"/>
          <p:cNvSpPr/>
          <p:nvPr/>
        </p:nvSpPr>
        <p:spPr>
          <a:xfrm>
            <a:off x="0" y="6080760"/>
            <a:ext cx="12191695" cy="365760"/>
          </a:xfrm>
          <a:prstGeom prst="rect">
            <a:avLst/>
          </a:prstGeom>
          <a:noFill/>
          <a:ln/>
        </p:spPr>
        <p:txBody>
          <a:bodyPr wrap="square" rtlCol="0" anchor="ctr"/>
          <a:lstStyle/>
          <a:p>
            <a:pPr marL="0" indent="0" algn="ctr">
              <a:buNone/>
            </a:pPr>
            <a:endParaRPr lang="en-US" sz="1200" dirty="0">
              <a:latin typeface="Verdana" panose="020B0604030504040204" pitchFamily="34" charset="0"/>
              <a:ea typeface="Verdana" panose="020B060403050404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731520"/>
          </a:xfrm>
          <a:prstGeom prst="rect">
            <a:avLst/>
          </a:prstGeom>
          <a:noFill/>
          <a:ln/>
        </p:spPr>
        <p:txBody>
          <a:bodyPr wrap="square" rtlCol="0" anchor="ctr"/>
          <a:lstStyle/>
          <a:p>
            <a:pPr marL="0" indent="0">
              <a:buNone/>
            </a:pPr>
            <a:r>
              <a:rPr lang="en-US" sz="3200" b="1" dirty="0">
                <a:solidFill>
                  <a:srgbClr val="0F1B2E"/>
                </a:solidFill>
                <a:latin typeface="Verdana" panose="020B0604030504040204" pitchFamily="34" charset="0"/>
                <a:ea typeface="Verdana" panose="020B0604030504040204" pitchFamily="34" charset="0"/>
                <a:cs typeface="Cambria" pitchFamily="34" charset="-120"/>
              </a:rPr>
              <a:t>What We’ll Cover Today</a:t>
            </a:r>
            <a:endParaRPr lang="en-US" sz="3200" dirty="0">
              <a:latin typeface="Verdana" panose="020B0604030504040204" pitchFamily="34" charset="0"/>
              <a:ea typeface="Verdana" panose="020B0604030504040204" pitchFamily="34" charset="0"/>
            </a:endParaRPr>
          </a:p>
        </p:txBody>
      </p:sp>
      <p:sp>
        <p:nvSpPr>
          <p:cNvPr id="3" name="Text 1"/>
          <p:cNvSpPr/>
          <p:nvPr/>
        </p:nvSpPr>
        <p:spPr>
          <a:xfrm>
            <a:off x="640080" y="1188720"/>
            <a:ext cx="10881360" cy="365760"/>
          </a:xfrm>
          <a:prstGeom prst="rect">
            <a:avLst/>
          </a:prstGeom>
          <a:noFill/>
          <a:ln/>
        </p:spPr>
        <p:txBody>
          <a:bodyPr wrap="square" rtlCol="0" anchor="ctr"/>
          <a:lstStyle/>
          <a:p>
            <a:pPr marL="0" indent="0">
              <a:buNone/>
            </a:pPr>
            <a:r>
              <a:rPr lang="en-US" sz="1400" dirty="0">
                <a:solidFill>
                  <a:srgbClr val="6B7280"/>
                </a:solidFill>
                <a:latin typeface="Verdana" panose="020B0604030504040204" pitchFamily="34" charset="0"/>
                <a:ea typeface="Verdana" panose="020B0604030504040204" pitchFamily="34" charset="0"/>
                <a:cs typeface="Calibri" pitchFamily="34" charset="-120"/>
              </a:rPr>
              <a:t>PROJECT PLANNING</a:t>
            </a:r>
            <a:endParaRPr lang="en-US" sz="1400" dirty="0">
              <a:latin typeface="Verdana" panose="020B0604030504040204" pitchFamily="34" charset="0"/>
              <a:ea typeface="Verdana" panose="020B0604030504040204" pitchFamily="34" charset="0"/>
            </a:endParaRPr>
          </a:p>
        </p:txBody>
      </p:sp>
      <p:sp>
        <p:nvSpPr>
          <p:cNvPr id="4" name="Shape 2"/>
          <p:cNvSpPr/>
          <p:nvPr/>
        </p:nvSpPr>
        <p:spPr>
          <a:xfrm>
            <a:off x="640080" y="2057400"/>
            <a:ext cx="548640" cy="548640"/>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sp>
        <p:nvSpPr>
          <p:cNvPr id="5" name="Text 3"/>
          <p:cNvSpPr/>
          <p:nvPr/>
        </p:nvSpPr>
        <p:spPr>
          <a:xfrm>
            <a:off x="640080" y="2057400"/>
            <a:ext cx="548640" cy="548640"/>
          </a:xfrm>
          <a:prstGeom prst="rect">
            <a:avLst/>
          </a:prstGeom>
          <a:noFill/>
          <a:ln/>
        </p:spPr>
        <p:txBody>
          <a:bodyPr wrap="square" rtlCol="0" anchor="ctr"/>
          <a:lstStyle/>
          <a:p>
            <a:pPr marL="0" indent="0" algn="ctr">
              <a:buNone/>
            </a:pPr>
            <a:r>
              <a:rPr lang="en-US" sz="1900" b="1" dirty="0">
                <a:solidFill>
                  <a:srgbClr val="1D4ED8"/>
                </a:solidFill>
                <a:latin typeface="Verdana" panose="020B0604030504040204" pitchFamily="34" charset="0"/>
                <a:ea typeface="Verdana" panose="020B0604030504040204" pitchFamily="34" charset="0"/>
                <a:cs typeface="Cambria" pitchFamily="34" charset="-120"/>
              </a:rPr>
              <a:t>1</a:t>
            </a:r>
            <a:endParaRPr lang="en-US" sz="1900" dirty="0">
              <a:latin typeface="Verdana" panose="020B0604030504040204" pitchFamily="34" charset="0"/>
              <a:ea typeface="Verdana" panose="020B0604030504040204" pitchFamily="34" charset="0"/>
            </a:endParaRPr>
          </a:p>
        </p:txBody>
      </p:sp>
      <p:sp>
        <p:nvSpPr>
          <p:cNvPr id="6" name="Text 4"/>
          <p:cNvSpPr/>
          <p:nvPr/>
        </p:nvSpPr>
        <p:spPr>
          <a:xfrm>
            <a:off x="1389888" y="2039112"/>
            <a:ext cx="4279392" cy="585216"/>
          </a:xfrm>
          <a:prstGeom prst="rect">
            <a:avLst/>
          </a:prstGeom>
          <a:noFill/>
          <a:ln/>
        </p:spPr>
        <p:txBody>
          <a:bodyPr wrap="square" rtlCol="0" anchor="ctr"/>
          <a:lstStyle/>
          <a:p>
            <a:pPr marL="0" indent="0">
              <a:buNone/>
            </a:pPr>
            <a:r>
              <a:rPr lang="en-US" sz="1700" b="1" dirty="0">
                <a:solidFill>
                  <a:srgbClr val="111827"/>
                </a:solidFill>
                <a:latin typeface="Verdana" panose="020B0604030504040204" pitchFamily="34" charset="0"/>
                <a:ea typeface="Verdana" panose="020B0604030504040204" pitchFamily="34" charset="0"/>
                <a:cs typeface="Calibri" pitchFamily="34" charset="-120"/>
              </a:rPr>
              <a:t>Why we built this</a:t>
            </a:r>
            <a:endParaRPr lang="en-US" sz="1700" dirty="0">
              <a:latin typeface="Verdana" panose="020B0604030504040204" pitchFamily="34" charset="0"/>
              <a:ea typeface="Verdana" panose="020B0604030504040204" pitchFamily="34" charset="0"/>
            </a:endParaRPr>
          </a:p>
        </p:txBody>
      </p:sp>
      <p:sp>
        <p:nvSpPr>
          <p:cNvPr id="7" name="Shape 5"/>
          <p:cNvSpPr/>
          <p:nvPr/>
        </p:nvSpPr>
        <p:spPr>
          <a:xfrm>
            <a:off x="640080" y="3200400"/>
            <a:ext cx="548640" cy="548640"/>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sp>
        <p:nvSpPr>
          <p:cNvPr id="8" name="Text 6"/>
          <p:cNvSpPr/>
          <p:nvPr/>
        </p:nvSpPr>
        <p:spPr>
          <a:xfrm>
            <a:off x="640080" y="3200400"/>
            <a:ext cx="548640" cy="548640"/>
          </a:xfrm>
          <a:prstGeom prst="rect">
            <a:avLst/>
          </a:prstGeom>
          <a:noFill/>
          <a:ln/>
        </p:spPr>
        <p:txBody>
          <a:bodyPr wrap="square" rtlCol="0" anchor="ctr"/>
          <a:lstStyle/>
          <a:p>
            <a:pPr marL="0" indent="0" algn="ctr">
              <a:buNone/>
            </a:pPr>
            <a:r>
              <a:rPr lang="en-US" sz="1900" b="1" dirty="0">
                <a:solidFill>
                  <a:srgbClr val="1D4ED8"/>
                </a:solidFill>
                <a:latin typeface="Verdana" panose="020B0604030504040204" pitchFamily="34" charset="0"/>
                <a:ea typeface="Verdana" panose="020B0604030504040204" pitchFamily="34" charset="0"/>
                <a:cs typeface="Cambria" pitchFamily="34" charset="-120"/>
              </a:rPr>
              <a:t>2</a:t>
            </a:r>
            <a:endParaRPr lang="en-US" sz="1900" dirty="0">
              <a:latin typeface="Verdana" panose="020B0604030504040204" pitchFamily="34" charset="0"/>
              <a:ea typeface="Verdana" panose="020B0604030504040204" pitchFamily="34" charset="0"/>
            </a:endParaRPr>
          </a:p>
        </p:txBody>
      </p:sp>
      <p:sp>
        <p:nvSpPr>
          <p:cNvPr id="9" name="Text 7"/>
          <p:cNvSpPr/>
          <p:nvPr/>
        </p:nvSpPr>
        <p:spPr>
          <a:xfrm>
            <a:off x="1389888" y="3182112"/>
            <a:ext cx="4279392" cy="585216"/>
          </a:xfrm>
          <a:prstGeom prst="rect">
            <a:avLst/>
          </a:prstGeom>
          <a:noFill/>
          <a:ln/>
        </p:spPr>
        <p:txBody>
          <a:bodyPr wrap="square" rtlCol="0" anchor="ctr"/>
          <a:lstStyle/>
          <a:p>
            <a:pPr marL="0" indent="0">
              <a:buNone/>
            </a:pPr>
            <a:r>
              <a:rPr lang="en-US" sz="1700" b="1" dirty="0">
                <a:solidFill>
                  <a:srgbClr val="111827"/>
                </a:solidFill>
                <a:latin typeface="Verdana" panose="020B0604030504040204" pitchFamily="34" charset="0"/>
                <a:ea typeface="Verdana" panose="020B0604030504040204" pitchFamily="34" charset="0"/>
                <a:cs typeface="Calibri" pitchFamily="34" charset="-120"/>
              </a:rPr>
              <a:t>What’s ready today</a:t>
            </a:r>
            <a:endParaRPr lang="en-US" sz="1700" dirty="0">
              <a:latin typeface="Verdana" panose="020B0604030504040204" pitchFamily="34" charset="0"/>
              <a:ea typeface="Verdana" panose="020B0604030504040204" pitchFamily="34" charset="0"/>
            </a:endParaRPr>
          </a:p>
        </p:txBody>
      </p:sp>
      <p:sp>
        <p:nvSpPr>
          <p:cNvPr id="10" name="Shape 8"/>
          <p:cNvSpPr/>
          <p:nvPr/>
        </p:nvSpPr>
        <p:spPr>
          <a:xfrm>
            <a:off x="640080" y="4343400"/>
            <a:ext cx="548640" cy="548640"/>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sp>
        <p:nvSpPr>
          <p:cNvPr id="11" name="Text 9"/>
          <p:cNvSpPr/>
          <p:nvPr/>
        </p:nvSpPr>
        <p:spPr>
          <a:xfrm>
            <a:off x="640080" y="4343400"/>
            <a:ext cx="548640" cy="548640"/>
          </a:xfrm>
          <a:prstGeom prst="rect">
            <a:avLst/>
          </a:prstGeom>
          <a:noFill/>
          <a:ln/>
        </p:spPr>
        <p:txBody>
          <a:bodyPr wrap="square" rtlCol="0" anchor="ctr"/>
          <a:lstStyle/>
          <a:p>
            <a:pPr marL="0" indent="0" algn="ctr">
              <a:buNone/>
            </a:pPr>
            <a:r>
              <a:rPr lang="en-US" sz="1900" b="1" dirty="0">
                <a:solidFill>
                  <a:srgbClr val="1D4ED8"/>
                </a:solidFill>
                <a:latin typeface="Verdana" panose="020B0604030504040204" pitchFamily="34" charset="0"/>
                <a:ea typeface="Verdana" panose="020B0604030504040204" pitchFamily="34" charset="0"/>
                <a:cs typeface="Cambria" pitchFamily="34" charset="-120"/>
              </a:rPr>
              <a:t>3</a:t>
            </a:r>
            <a:endParaRPr lang="en-US" sz="1900" dirty="0">
              <a:latin typeface="Verdana" panose="020B0604030504040204" pitchFamily="34" charset="0"/>
              <a:ea typeface="Verdana" panose="020B0604030504040204" pitchFamily="34" charset="0"/>
            </a:endParaRPr>
          </a:p>
        </p:txBody>
      </p:sp>
      <p:sp>
        <p:nvSpPr>
          <p:cNvPr id="12" name="Text 10"/>
          <p:cNvSpPr/>
          <p:nvPr/>
        </p:nvSpPr>
        <p:spPr>
          <a:xfrm>
            <a:off x="1389888" y="4325112"/>
            <a:ext cx="4279392" cy="585216"/>
          </a:xfrm>
          <a:prstGeom prst="rect">
            <a:avLst/>
          </a:prstGeom>
          <a:noFill/>
          <a:ln/>
        </p:spPr>
        <p:txBody>
          <a:bodyPr wrap="square" rtlCol="0" anchor="ctr"/>
          <a:lstStyle/>
          <a:p>
            <a:pPr marL="0" indent="0">
              <a:buNone/>
            </a:pPr>
            <a:r>
              <a:rPr lang="en-US" sz="1700" b="1" dirty="0">
                <a:solidFill>
                  <a:srgbClr val="111827"/>
                </a:solidFill>
                <a:latin typeface="Verdana" panose="020B0604030504040204" pitchFamily="34" charset="0"/>
                <a:ea typeface="Verdana" panose="020B0604030504040204" pitchFamily="34" charset="0"/>
                <a:cs typeface="Calibri" pitchFamily="34" charset="-120"/>
              </a:rPr>
              <a:t>How it protects your business</a:t>
            </a:r>
            <a:endParaRPr lang="en-US" sz="1700" dirty="0">
              <a:latin typeface="Verdana" panose="020B0604030504040204" pitchFamily="34" charset="0"/>
              <a:ea typeface="Verdana" panose="020B0604030504040204" pitchFamily="34" charset="0"/>
            </a:endParaRPr>
          </a:p>
        </p:txBody>
      </p:sp>
      <p:sp>
        <p:nvSpPr>
          <p:cNvPr id="13" name="Shape 11"/>
          <p:cNvSpPr/>
          <p:nvPr/>
        </p:nvSpPr>
        <p:spPr>
          <a:xfrm>
            <a:off x="6400800" y="2057400"/>
            <a:ext cx="548640" cy="548640"/>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sp>
        <p:nvSpPr>
          <p:cNvPr id="14" name="Text 12"/>
          <p:cNvSpPr/>
          <p:nvPr/>
        </p:nvSpPr>
        <p:spPr>
          <a:xfrm>
            <a:off x="6400800" y="2057400"/>
            <a:ext cx="548640" cy="548640"/>
          </a:xfrm>
          <a:prstGeom prst="rect">
            <a:avLst/>
          </a:prstGeom>
          <a:noFill/>
          <a:ln/>
        </p:spPr>
        <p:txBody>
          <a:bodyPr wrap="square" rtlCol="0" anchor="ctr"/>
          <a:lstStyle/>
          <a:p>
            <a:pPr marL="0" indent="0" algn="ctr">
              <a:buNone/>
            </a:pPr>
            <a:r>
              <a:rPr lang="en-US" sz="1900" b="1" dirty="0">
                <a:solidFill>
                  <a:srgbClr val="1D4ED8"/>
                </a:solidFill>
                <a:latin typeface="Verdana" panose="020B0604030504040204" pitchFamily="34" charset="0"/>
                <a:ea typeface="Verdana" panose="020B0604030504040204" pitchFamily="34" charset="0"/>
                <a:cs typeface="Cambria" pitchFamily="34" charset="-120"/>
              </a:rPr>
              <a:t>4</a:t>
            </a:r>
            <a:endParaRPr lang="en-US" sz="1900" dirty="0">
              <a:latin typeface="Verdana" panose="020B0604030504040204" pitchFamily="34" charset="0"/>
              <a:ea typeface="Verdana" panose="020B0604030504040204" pitchFamily="34" charset="0"/>
            </a:endParaRPr>
          </a:p>
        </p:txBody>
      </p:sp>
      <p:sp>
        <p:nvSpPr>
          <p:cNvPr id="15" name="Text 13"/>
          <p:cNvSpPr/>
          <p:nvPr/>
        </p:nvSpPr>
        <p:spPr>
          <a:xfrm>
            <a:off x="7150608" y="2039112"/>
            <a:ext cx="4279392" cy="585216"/>
          </a:xfrm>
          <a:prstGeom prst="rect">
            <a:avLst/>
          </a:prstGeom>
          <a:noFill/>
          <a:ln/>
        </p:spPr>
        <p:txBody>
          <a:bodyPr wrap="square" rtlCol="0" anchor="ctr"/>
          <a:lstStyle/>
          <a:p>
            <a:pPr marL="0" indent="0">
              <a:buNone/>
            </a:pPr>
            <a:r>
              <a:rPr lang="en-US" sz="1700" b="1" dirty="0">
                <a:solidFill>
                  <a:srgbClr val="111827"/>
                </a:solidFill>
                <a:latin typeface="Verdana" panose="020B0604030504040204" pitchFamily="34" charset="0"/>
                <a:ea typeface="Verdana" panose="020B0604030504040204" pitchFamily="34" charset="0"/>
                <a:cs typeface="Calibri" pitchFamily="34" charset="-120"/>
              </a:rPr>
              <a:t>What it costs to run</a:t>
            </a:r>
            <a:endParaRPr lang="en-US" sz="1700" dirty="0">
              <a:latin typeface="Verdana" panose="020B0604030504040204" pitchFamily="34" charset="0"/>
              <a:ea typeface="Verdana" panose="020B0604030504040204" pitchFamily="34" charset="0"/>
            </a:endParaRPr>
          </a:p>
        </p:txBody>
      </p:sp>
      <p:sp>
        <p:nvSpPr>
          <p:cNvPr id="16" name="Shape 14"/>
          <p:cNvSpPr/>
          <p:nvPr/>
        </p:nvSpPr>
        <p:spPr>
          <a:xfrm>
            <a:off x="6400800" y="3200400"/>
            <a:ext cx="548640" cy="548640"/>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sp>
        <p:nvSpPr>
          <p:cNvPr id="17" name="Text 15"/>
          <p:cNvSpPr/>
          <p:nvPr/>
        </p:nvSpPr>
        <p:spPr>
          <a:xfrm>
            <a:off x="6400800" y="3200400"/>
            <a:ext cx="548640" cy="548640"/>
          </a:xfrm>
          <a:prstGeom prst="rect">
            <a:avLst/>
          </a:prstGeom>
          <a:noFill/>
          <a:ln/>
        </p:spPr>
        <p:txBody>
          <a:bodyPr wrap="square" rtlCol="0" anchor="ctr"/>
          <a:lstStyle/>
          <a:p>
            <a:pPr marL="0" indent="0" algn="ctr">
              <a:buNone/>
            </a:pPr>
            <a:r>
              <a:rPr lang="en-US" sz="1900" b="1" dirty="0">
                <a:solidFill>
                  <a:srgbClr val="1D4ED8"/>
                </a:solidFill>
                <a:latin typeface="Verdana" panose="020B0604030504040204" pitchFamily="34" charset="0"/>
                <a:ea typeface="Verdana" panose="020B0604030504040204" pitchFamily="34" charset="0"/>
                <a:cs typeface="Cambria" pitchFamily="34" charset="-120"/>
              </a:rPr>
              <a:t>5</a:t>
            </a:r>
            <a:endParaRPr lang="en-US" sz="1900" dirty="0">
              <a:latin typeface="Verdana" panose="020B0604030504040204" pitchFamily="34" charset="0"/>
              <a:ea typeface="Verdana" panose="020B0604030504040204" pitchFamily="34" charset="0"/>
            </a:endParaRPr>
          </a:p>
        </p:txBody>
      </p:sp>
      <p:sp>
        <p:nvSpPr>
          <p:cNvPr id="18" name="Text 16"/>
          <p:cNvSpPr/>
          <p:nvPr/>
        </p:nvSpPr>
        <p:spPr>
          <a:xfrm>
            <a:off x="7150608" y="3182112"/>
            <a:ext cx="4279392" cy="585216"/>
          </a:xfrm>
          <a:prstGeom prst="rect">
            <a:avLst/>
          </a:prstGeom>
          <a:noFill/>
          <a:ln/>
        </p:spPr>
        <p:txBody>
          <a:bodyPr wrap="square" rtlCol="0" anchor="ctr"/>
          <a:lstStyle/>
          <a:p>
            <a:pPr marL="0" indent="0">
              <a:buNone/>
            </a:pPr>
            <a:r>
              <a:rPr lang="en-US" sz="1700" b="1" dirty="0">
                <a:solidFill>
                  <a:srgbClr val="111827"/>
                </a:solidFill>
                <a:latin typeface="Verdana" panose="020B0604030504040204" pitchFamily="34" charset="0"/>
                <a:ea typeface="Verdana" panose="020B0604030504040204" pitchFamily="34" charset="0"/>
                <a:cs typeface="Calibri" pitchFamily="34" charset="-120"/>
              </a:rPr>
              <a:t>What’s left to finish</a:t>
            </a:r>
            <a:endParaRPr lang="en-US" sz="1700" dirty="0">
              <a:latin typeface="Verdana" panose="020B0604030504040204" pitchFamily="34" charset="0"/>
              <a:ea typeface="Verdana" panose="020B0604030504040204" pitchFamily="34" charset="0"/>
            </a:endParaRPr>
          </a:p>
        </p:txBody>
      </p:sp>
      <p:sp>
        <p:nvSpPr>
          <p:cNvPr id="19" name="Shape 17"/>
          <p:cNvSpPr/>
          <p:nvPr/>
        </p:nvSpPr>
        <p:spPr>
          <a:xfrm>
            <a:off x="6400800" y="4343400"/>
            <a:ext cx="548640" cy="548640"/>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sp>
        <p:nvSpPr>
          <p:cNvPr id="20" name="Text 18"/>
          <p:cNvSpPr/>
          <p:nvPr/>
        </p:nvSpPr>
        <p:spPr>
          <a:xfrm>
            <a:off x="6400800" y="4343400"/>
            <a:ext cx="548640" cy="548640"/>
          </a:xfrm>
          <a:prstGeom prst="rect">
            <a:avLst/>
          </a:prstGeom>
          <a:noFill/>
          <a:ln/>
        </p:spPr>
        <p:txBody>
          <a:bodyPr wrap="square" rtlCol="0" anchor="ctr"/>
          <a:lstStyle/>
          <a:p>
            <a:pPr marL="0" indent="0" algn="ctr">
              <a:buNone/>
            </a:pPr>
            <a:r>
              <a:rPr lang="en-US" sz="1900" b="1" dirty="0">
                <a:solidFill>
                  <a:srgbClr val="1D4ED8"/>
                </a:solidFill>
                <a:latin typeface="Verdana" panose="020B0604030504040204" pitchFamily="34" charset="0"/>
                <a:ea typeface="Verdana" panose="020B0604030504040204" pitchFamily="34" charset="0"/>
                <a:cs typeface="Cambria" pitchFamily="34" charset="-120"/>
              </a:rPr>
              <a:t>6</a:t>
            </a:r>
            <a:endParaRPr lang="en-US" sz="1900" dirty="0">
              <a:latin typeface="Verdana" panose="020B0604030504040204" pitchFamily="34" charset="0"/>
              <a:ea typeface="Verdana" panose="020B0604030504040204" pitchFamily="34" charset="0"/>
            </a:endParaRPr>
          </a:p>
        </p:txBody>
      </p:sp>
      <p:sp>
        <p:nvSpPr>
          <p:cNvPr id="21" name="Text 19"/>
          <p:cNvSpPr/>
          <p:nvPr/>
        </p:nvSpPr>
        <p:spPr>
          <a:xfrm>
            <a:off x="7150608" y="4325112"/>
            <a:ext cx="4279392" cy="585216"/>
          </a:xfrm>
          <a:prstGeom prst="rect">
            <a:avLst/>
          </a:prstGeom>
          <a:noFill/>
          <a:ln/>
        </p:spPr>
        <p:txBody>
          <a:bodyPr wrap="square" rtlCol="0" anchor="ctr"/>
          <a:lstStyle/>
          <a:p>
            <a:pPr marL="0" indent="0">
              <a:buNone/>
            </a:pPr>
            <a:r>
              <a:rPr lang="en-US" sz="1700" b="1" dirty="0">
                <a:solidFill>
                  <a:srgbClr val="111827"/>
                </a:solidFill>
                <a:latin typeface="Verdana" panose="020B0604030504040204" pitchFamily="34" charset="0"/>
                <a:ea typeface="Verdana" panose="020B0604030504040204" pitchFamily="34" charset="0"/>
                <a:cs typeface="Calibri" pitchFamily="34" charset="-120"/>
              </a:rPr>
              <a:t>Your questions</a:t>
            </a:r>
            <a:endParaRPr lang="en-US" sz="1700" dirty="0">
              <a:latin typeface="Verdana" panose="020B0604030504040204" pitchFamily="34" charset="0"/>
              <a:ea typeface="Verdana" panose="020B0604030504040204" pitchFamily="34" charset="0"/>
            </a:endParaRPr>
          </a:p>
        </p:txBody>
      </p:sp>
      <p:sp>
        <p:nvSpPr>
          <p:cNvPr id="22" name="Text 20"/>
          <p:cNvSpPr/>
          <p:nvPr/>
        </p:nvSpPr>
        <p:spPr>
          <a:xfrm>
            <a:off x="640080" y="6400800"/>
            <a:ext cx="4572000" cy="274320"/>
          </a:xfrm>
          <a:prstGeom prst="rect">
            <a:avLst/>
          </a:prstGeom>
          <a:noFill/>
          <a:ln/>
        </p:spPr>
        <p:txBody>
          <a:bodyPr wrap="square" rtlCol="0" anchor="ctr"/>
          <a:lstStyle/>
          <a:p>
            <a:pPr marL="0" indent="0">
              <a:buNone/>
            </a:pPr>
            <a:r>
              <a:rPr lang="en-US" sz="900" kern="0" spc="100" dirty="0">
                <a:solidFill>
                  <a:srgbClr val="6B7280"/>
                </a:solidFill>
                <a:latin typeface="Verdana" panose="020B0604030504040204" pitchFamily="34" charset="0"/>
                <a:ea typeface="Verdana" panose="020B0604030504040204" pitchFamily="34" charset="0"/>
                <a:cs typeface="Calibri" pitchFamily="34" charset="-120"/>
              </a:rPr>
              <a:t>CAIDIC HARDWARE POS</a:t>
            </a:r>
            <a:endParaRPr lang="en-US" sz="900" dirty="0">
              <a:latin typeface="Verdana" panose="020B0604030504040204" pitchFamily="34" charset="0"/>
              <a:ea typeface="Verdana" panose="020B0604030504040204" pitchFamily="34" charset="0"/>
            </a:endParaRPr>
          </a:p>
        </p:txBody>
      </p:sp>
      <p:sp>
        <p:nvSpPr>
          <p:cNvPr id="23" name="Text 21"/>
          <p:cNvSpPr/>
          <p:nvPr/>
        </p:nvSpPr>
        <p:spPr>
          <a:xfrm>
            <a:off x="11002975" y="6400800"/>
            <a:ext cx="548640" cy="274320"/>
          </a:xfrm>
          <a:prstGeom prst="rect">
            <a:avLst/>
          </a:prstGeom>
          <a:noFill/>
          <a:ln/>
        </p:spPr>
        <p:txBody>
          <a:bodyPr wrap="square" rtlCol="0" anchor="ctr"/>
          <a:lstStyle/>
          <a:p>
            <a:pPr marL="0" indent="0" algn="r">
              <a:buNone/>
            </a:pPr>
            <a:r>
              <a:rPr lang="en-US" sz="900" dirty="0">
                <a:solidFill>
                  <a:srgbClr val="6B7280"/>
                </a:solidFill>
                <a:latin typeface="Verdana" panose="020B0604030504040204" pitchFamily="34" charset="0"/>
                <a:ea typeface="Verdana" panose="020B0604030504040204" pitchFamily="34" charset="0"/>
                <a:cs typeface="Calibri" pitchFamily="34" charset="-120"/>
              </a:rPr>
              <a:t>2</a:t>
            </a:r>
            <a:endParaRPr lang="en-US" sz="900" dirty="0">
              <a:latin typeface="Verdana" panose="020B0604030504040204" pitchFamily="34" charset="0"/>
              <a:ea typeface="Verdana" panose="020B060403050404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3F6"/>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731520"/>
          </a:xfrm>
          <a:prstGeom prst="rect">
            <a:avLst/>
          </a:prstGeom>
          <a:noFill/>
          <a:ln/>
        </p:spPr>
        <p:txBody>
          <a:bodyPr wrap="square" rtlCol="0" anchor="ctr"/>
          <a:lstStyle/>
          <a:p>
            <a:pPr marL="0" indent="0">
              <a:buNone/>
            </a:pPr>
            <a:r>
              <a:rPr lang="en-US" sz="3200" b="1" dirty="0">
                <a:solidFill>
                  <a:srgbClr val="0F1B2E"/>
                </a:solidFill>
                <a:latin typeface="Verdana" panose="020B0604030504040204" pitchFamily="34" charset="0"/>
                <a:ea typeface="Verdana" panose="020B0604030504040204" pitchFamily="34" charset="0"/>
                <a:cs typeface="Cambria" pitchFamily="34" charset="-120"/>
              </a:rPr>
              <a:t>Problems</a:t>
            </a:r>
            <a:endParaRPr lang="en-US" sz="3200" dirty="0">
              <a:latin typeface="Verdana" panose="020B0604030504040204" pitchFamily="34" charset="0"/>
              <a:ea typeface="Verdana" panose="020B0604030504040204" pitchFamily="34" charset="0"/>
            </a:endParaRPr>
          </a:p>
        </p:txBody>
      </p:sp>
      <p:sp>
        <p:nvSpPr>
          <p:cNvPr id="3" name="Shape 1"/>
          <p:cNvSpPr/>
          <p:nvPr/>
        </p:nvSpPr>
        <p:spPr>
          <a:xfrm>
            <a:off x="640080" y="1965960"/>
            <a:ext cx="3429000" cy="3749040"/>
          </a:xfrm>
          <a:prstGeom prst="roundRect">
            <a:avLst>
              <a:gd name="adj" fmla="val 3200"/>
            </a:avLst>
          </a:prstGeom>
          <a:solidFill>
            <a:srgbClr val="FFFFFF"/>
          </a:solidFill>
          <a:ln/>
          <a:effectLst>
            <a:outerShdw blurRad="114300" dist="38100" dir="5400000" algn="bl" rotWithShape="0">
              <a:srgbClr val="0F1B2E">
                <a:alpha val="14000"/>
              </a:srgbClr>
            </a:outerShdw>
          </a:effectLst>
        </p:spPr>
        <p:txBody>
          <a:bodyPr/>
          <a:lstStyle/>
          <a:p>
            <a:endParaRPr lang="en-PH">
              <a:latin typeface="Verdana" panose="020B0604030504040204" pitchFamily="34" charset="0"/>
              <a:ea typeface="Verdana" panose="020B0604030504040204" pitchFamily="34" charset="0"/>
            </a:endParaRPr>
          </a:p>
        </p:txBody>
      </p:sp>
      <p:sp>
        <p:nvSpPr>
          <p:cNvPr id="4" name="Shape 2"/>
          <p:cNvSpPr/>
          <p:nvPr/>
        </p:nvSpPr>
        <p:spPr>
          <a:xfrm>
            <a:off x="960120" y="2331720"/>
            <a:ext cx="777240" cy="777240"/>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pic>
        <p:nvPicPr>
          <p:cNvPr id="5" name="Image 0" descr="/home/claude/pos-meeting/icons/clock_blue.png"/>
          <p:cNvPicPr>
            <a:picLocks noChangeAspect="1"/>
          </p:cNvPicPr>
          <p:nvPr/>
        </p:nvPicPr>
        <p:blipFill>
          <a:blip r:embed="rId3"/>
          <a:stretch>
            <a:fillRect/>
          </a:stretch>
        </p:blipFill>
        <p:spPr>
          <a:xfrm>
            <a:off x="1162202" y="2533802"/>
            <a:ext cx="373075" cy="373075"/>
          </a:xfrm>
          <a:prstGeom prst="rect">
            <a:avLst/>
          </a:prstGeom>
        </p:spPr>
      </p:pic>
      <p:sp>
        <p:nvSpPr>
          <p:cNvPr id="6" name="Text 3"/>
          <p:cNvSpPr/>
          <p:nvPr/>
        </p:nvSpPr>
        <p:spPr>
          <a:xfrm>
            <a:off x="960120" y="3337560"/>
            <a:ext cx="2788920" cy="822960"/>
          </a:xfrm>
          <a:prstGeom prst="rect">
            <a:avLst/>
          </a:prstGeom>
          <a:noFill/>
          <a:ln/>
        </p:spPr>
        <p:txBody>
          <a:bodyPr wrap="square" rtlCol="0" anchor="t"/>
          <a:lstStyle/>
          <a:p>
            <a:pPr marL="0" indent="0">
              <a:buNone/>
            </a:pPr>
            <a:r>
              <a:rPr lang="en-US" sz="1650" b="1" dirty="0">
                <a:solidFill>
                  <a:srgbClr val="0F1B2E"/>
                </a:solidFill>
                <a:latin typeface="Verdana" panose="020B0604030504040204" pitchFamily="34" charset="0"/>
                <a:ea typeface="Verdana" panose="020B0604030504040204" pitchFamily="34" charset="0"/>
                <a:cs typeface="Cambria" pitchFamily="34" charset="-120"/>
              </a:rPr>
              <a:t>Manual Counting</a:t>
            </a:r>
            <a:endParaRPr lang="en-US" sz="1650" dirty="0">
              <a:latin typeface="Verdana" panose="020B0604030504040204" pitchFamily="34" charset="0"/>
              <a:ea typeface="Verdana" panose="020B0604030504040204" pitchFamily="34" charset="0"/>
            </a:endParaRPr>
          </a:p>
        </p:txBody>
      </p:sp>
      <p:sp>
        <p:nvSpPr>
          <p:cNvPr id="7" name="Text 4"/>
          <p:cNvSpPr/>
          <p:nvPr/>
        </p:nvSpPr>
        <p:spPr>
          <a:xfrm>
            <a:off x="960120" y="4251960"/>
            <a:ext cx="2788920" cy="1280160"/>
          </a:xfrm>
          <a:prstGeom prst="rect">
            <a:avLst/>
          </a:prstGeom>
          <a:noFill/>
          <a:ln/>
        </p:spPr>
        <p:txBody>
          <a:bodyPr wrap="square" rtlCol="0" anchor="t"/>
          <a:lstStyle/>
          <a:p>
            <a:pPr marL="0" indent="0">
              <a:lnSpc>
                <a:spcPct val="120000"/>
              </a:lnSpc>
              <a:buNone/>
            </a:pPr>
            <a:r>
              <a:rPr lang="en-US" sz="1300" dirty="0">
                <a:solidFill>
                  <a:srgbClr val="6B7280"/>
                </a:solidFill>
                <a:latin typeface="Verdana" panose="020B0604030504040204" pitchFamily="34" charset="0"/>
                <a:ea typeface="Verdana" panose="020B0604030504040204" pitchFamily="34" charset="0"/>
                <a:cs typeface="Calibri" pitchFamily="34" charset="-120"/>
              </a:rPr>
              <a:t>Checking stock by hand is slow, and it’s easy to miscount.</a:t>
            </a:r>
            <a:endParaRPr lang="en-US" sz="1300" dirty="0">
              <a:latin typeface="Verdana" panose="020B0604030504040204" pitchFamily="34" charset="0"/>
              <a:ea typeface="Verdana" panose="020B0604030504040204" pitchFamily="34" charset="0"/>
            </a:endParaRPr>
          </a:p>
        </p:txBody>
      </p:sp>
      <p:sp>
        <p:nvSpPr>
          <p:cNvPr id="8" name="Shape 5"/>
          <p:cNvSpPr/>
          <p:nvPr/>
        </p:nvSpPr>
        <p:spPr>
          <a:xfrm>
            <a:off x="4434840" y="1965960"/>
            <a:ext cx="3429000" cy="3749040"/>
          </a:xfrm>
          <a:prstGeom prst="roundRect">
            <a:avLst>
              <a:gd name="adj" fmla="val 3200"/>
            </a:avLst>
          </a:prstGeom>
          <a:solidFill>
            <a:srgbClr val="FFFFFF"/>
          </a:solidFill>
          <a:ln/>
          <a:effectLst>
            <a:outerShdw blurRad="114300" dist="38100" dir="5400000" algn="bl" rotWithShape="0">
              <a:srgbClr val="0F1B2E">
                <a:alpha val="14000"/>
              </a:srgbClr>
            </a:outerShdw>
          </a:effectLst>
        </p:spPr>
        <p:txBody>
          <a:bodyPr/>
          <a:lstStyle/>
          <a:p>
            <a:endParaRPr lang="en-PH">
              <a:latin typeface="Verdana" panose="020B0604030504040204" pitchFamily="34" charset="0"/>
              <a:ea typeface="Verdana" panose="020B0604030504040204" pitchFamily="34" charset="0"/>
            </a:endParaRPr>
          </a:p>
        </p:txBody>
      </p:sp>
      <p:sp>
        <p:nvSpPr>
          <p:cNvPr id="9" name="Shape 6"/>
          <p:cNvSpPr/>
          <p:nvPr/>
        </p:nvSpPr>
        <p:spPr>
          <a:xfrm>
            <a:off x="4754880" y="2331720"/>
            <a:ext cx="777240" cy="777240"/>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pic>
        <p:nvPicPr>
          <p:cNvPr id="10" name="Image 1" descr="/home/claude/pos-meeting/icons/wifioff_blue.png"/>
          <p:cNvPicPr>
            <a:picLocks noChangeAspect="1"/>
          </p:cNvPicPr>
          <p:nvPr/>
        </p:nvPicPr>
        <p:blipFill>
          <a:blip r:embed="rId4"/>
          <a:stretch>
            <a:fillRect/>
          </a:stretch>
        </p:blipFill>
        <p:spPr>
          <a:xfrm>
            <a:off x="4956962" y="2533802"/>
            <a:ext cx="373075" cy="373075"/>
          </a:xfrm>
          <a:prstGeom prst="rect">
            <a:avLst/>
          </a:prstGeom>
        </p:spPr>
      </p:pic>
      <p:sp>
        <p:nvSpPr>
          <p:cNvPr id="11" name="Text 7"/>
          <p:cNvSpPr/>
          <p:nvPr/>
        </p:nvSpPr>
        <p:spPr>
          <a:xfrm>
            <a:off x="4754880" y="3337560"/>
            <a:ext cx="2788920" cy="822960"/>
          </a:xfrm>
          <a:prstGeom prst="rect">
            <a:avLst/>
          </a:prstGeom>
          <a:noFill/>
          <a:ln/>
        </p:spPr>
        <p:txBody>
          <a:bodyPr wrap="square" rtlCol="0" anchor="t"/>
          <a:lstStyle/>
          <a:p>
            <a:pPr marL="0" indent="0">
              <a:buNone/>
            </a:pPr>
            <a:r>
              <a:rPr lang="en-US" sz="1650" b="1" dirty="0">
                <a:solidFill>
                  <a:srgbClr val="0F1B2E"/>
                </a:solidFill>
                <a:latin typeface="Verdana" panose="020B0604030504040204" pitchFamily="34" charset="0"/>
                <a:ea typeface="Verdana" panose="020B0604030504040204" pitchFamily="34" charset="0"/>
                <a:cs typeface="Cambria" pitchFamily="34" charset="-120"/>
              </a:rPr>
              <a:t>Unreliable Internet</a:t>
            </a:r>
            <a:endParaRPr lang="en-US" sz="1650" dirty="0">
              <a:latin typeface="Verdana" panose="020B0604030504040204" pitchFamily="34" charset="0"/>
              <a:ea typeface="Verdana" panose="020B0604030504040204" pitchFamily="34" charset="0"/>
            </a:endParaRPr>
          </a:p>
        </p:txBody>
      </p:sp>
      <p:sp>
        <p:nvSpPr>
          <p:cNvPr id="12" name="Text 8"/>
          <p:cNvSpPr/>
          <p:nvPr/>
        </p:nvSpPr>
        <p:spPr>
          <a:xfrm>
            <a:off x="4754880" y="4251960"/>
            <a:ext cx="2788920" cy="1280160"/>
          </a:xfrm>
          <a:prstGeom prst="rect">
            <a:avLst/>
          </a:prstGeom>
          <a:noFill/>
          <a:ln/>
        </p:spPr>
        <p:txBody>
          <a:bodyPr wrap="square" rtlCol="0" anchor="t"/>
          <a:lstStyle/>
          <a:p>
            <a:pPr marL="0" indent="0">
              <a:lnSpc>
                <a:spcPct val="120000"/>
              </a:lnSpc>
              <a:buNone/>
            </a:pPr>
            <a:r>
              <a:rPr lang="en-US" sz="1300" dirty="0">
                <a:solidFill>
                  <a:srgbClr val="6B7280"/>
                </a:solidFill>
                <a:latin typeface="Verdana" panose="020B0604030504040204" pitchFamily="34" charset="0"/>
                <a:ea typeface="Verdana" panose="020B0604030504040204" pitchFamily="34" charset="0"/>
                <a:cs typeface="Calibri" pitchFamily="34" charset="-120"/>
              </a:rPr>
              <a:t>A weak connection should never be able to stop a sale.</a:t>
            </a:r>
            <a:endParaRPr lang="en-US" sz="1300" dirty="0">
              <a:latin typeface="Verdana" panose="020B0604030504040204" pitchFamily="34" charset="0"/>
              <a:ea typeface="Verdana" panose="020B0604030504040204" pitchFamily="34" charset="0"/>
            </a:endParaRPr>
          </a:p>
        </p:txBody>
      </p:sp>
      <p:sp>
        <p:nvSpPr>
          <p:cNvPr id="13" name="Shape 9"/>
          <p:cNvSpPr/>
          <p:nvPr/>
        </p:nvSpPr>
        <p:spPr>
          <a:xfrm>
            <a:off x="8229600" y="1965960"/>
            <a:ext cx="3429000" cy="3749040"/>
          </a:xfrm>
          <a:prstGeom prst="roundRect">
            <a:avLst>
              <a:gd name="adj" fmla="val 3200"/>
            </a:avLst>
          </a:prstGeom>
          <a:solidFill>
            <a:srgbClr val="FFFFFF"/>
          </a:solidFill>
          <a:ln/>
          <a:effectLst>
            <a:outerShdw blurRad="114300" dist="38100" dir="5400000" algn="bl" rotWithShape="0">
              <a:srgbClr val="0F1B2E">
                <a:alpha val="14000"/>
              </a:srgbClr>
            </a:outerShdw>
          </a:effectLst>
        </p:spPr>
        <p:txBody>
          <a:bodyPr/>
          <a:lstStyle/>
          <a:p>
            <a:endParaRPr lang="en-PH">
              <a:latin typeface="Verdana" panose="020B0604030504040204" pitchFamily="34" charset="0"/>
              <a:ea typeface="Verdana" panose="020B0604030504040204" pitchFamily="34" charset="0"/>
            </a:endParaRPr>
          </a:p>
        </p:txBody>
      </p:sp>
      <p:sp>
        <p:nvSpPr>
          <p:cNvPr id="14" name="Shape 10"/>
          <p:cNvSpPr/>
          <p:nvPr/>
        </p:nvSpPr>
        <p:spPr>
          <a:xfrm>
            <a:off x="8549640" y="2331720"/>
            <a:ext cx="777240" cy="777240"/>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pic>
        <p:nvPicPr>
          <p:cNvPr id="15" name="Image 2" descr="/home/claude/pos-meeting/icons/dollar_blue.png"/>
          <p:cNvPicPr>
            <a:picLocks noChangeAspect="1"/>
          </p:cNvPicPr>
          <p:nvPr/>
        </p:nvPicPr>
        <p:blipFill>
          <a:blip r:embed="rId5"/>
          <a:stretch>
            <a:fillRect/>
          </a:stretch>
        </p:blipFill>
        <p:spPr>
          <a:xfrm>
            <a:off x="8751722" y="2533802"/>
            <a:ext cx="373075" cy="373075"/>
          </a:xfrm>
          <a:prstGeom prst="rect">
            <a:avLst/>
          </a:prstGeom>
        </p:spPr>
      </p:pic>
      <p:sp>
        <p:nvSpPr>
          <p:cNvPr id="16" name="Text 11"/>
          <p:cNvSpPr/>
          <p:nvPr/>
        </p:nvSpPr>
        <p:spPr>
          <a:xfrm>
            <a:off x="8549640" y="3337560"/>
            <a:ext cx="2788920" cy="822960"/>
          </a:xfrm>
          <a:prstGeom prst="rect">
            <a:avLst/>
          </a:prstGeom>
          <a:noFill/>
          <a:ln/>
        </p:spPr>
        <p:txBody>
          <a:bodyPr wrap="square" rtlCol="0" anchor="t"/>
          <a:lstStyle/>
          <a:p>
            <a:pPr marL="0" indent="0">
              <a:buNone/>
            </a:pPr>
            <a:r>
              <a:rPr lang="en-US" sz="1650" b="1" dirty="0">
                <a:solidFill>
                  <a:srgbClr val="0F1B2E"/>
                </a:solidFill>
                <a:latin typeface="Verdana" panose="020B0604030504040204" pitchFamily="34" charset="0"/>
                <a:ea typeface="Verdana" panose="020B0604030504040204" pitchFamily="34" charset="0"/>
                <a:cs typeface="Cambria" pitchFamily="34" charset="-120"/>
              </a:rPr>
              <a:t>Lock Subscription</a:t>
            </a:r>
            <a:endParaRPr lang="en-US" sz="1650" dirty="0">
              <a:latin typeface="Verdana" panose="020B0604030504040204" pitchFamily="34" charset="0"/>
              <a:ea typeface="Verdana" panose="020B0604030504040204" pitchFamily="34" charset="0"/>
            </a:endParaRPr>
          </a:p>
        </p:txBody>
      </p:sp>
      <p:sp>
        <p:nvSpPr>
          <p:cNvPr id="17" name="Text 12"/>
          <p:cNvSpPr/>
          <p:nvPr/>
        </p:nvSpPr>
        <p:spPr>
          <a:xfrm>
            <a:off x="8549640" y="4251960"/>
            <a:ext cx="2788920" cy="1280160"/>
          </a:xfrm>
          <a:prstGeom prst="rect">
            <a:avLst/>
          </a:prstGeom>
          <a:noFill/>
          <a:ln/>
        </p:spPr>
        <p:txBody>
          <a:bodyPr wrap="square" rtlCol="0" anchor="t"/>
          <a:lstStyle/>
          <a:p>
            <a:pPr marL="0" indent="0">
              <a:lnSpc>
                <a:spcPct val="120000"/>
              </a:lnSpc>
              <a:buNone/>
            </a:pPr>
            <a:r>
              <a:rPr lang="en-US" sz="1300" dirty="0">
                <a:solidFill>
                  <a:srgbClr val="6B7280"/>
                </a:solidFill>
                <a:latin typeface="Verdana" panose="020B0604030504040204" pitchFamily="34" charset="0"/>
                <a:ea typeface="Verdana" panose="020B0604030504040204" pitchFamily="34" charset="0"/>
                <a:cs typeface="Calibri" pitchFamily="34" charset="-120"/>
              </a:rPr>
              <a:t>Many checkout systems charge a platform fee just to keep running. This one uses your own accounts, no subscription required.</a:t>
            </a:r>
            <a:endParaRPr lang="en-US" sz="1300" dirty="0">
              <a:latin typeface="Verdana" panose="020B0604030504040204" pitchFamily="34" charset="0"/>
              <a:ea typeface="Verdana" panose="020B0604030504040204" pitchFamily="34" charset="0"/>
            </a:endParaRPr>
          </a:p>
        </p:txBody>
      </p:sp>
      <p:sp>
        <p:nvSpPr>
          <p:cNvPr id="18" name="Text 13"/>
          <p:cNvSpPr/>
          <p:nvPr/>
        </p:nvSpPr>
        <p:spPr>
          <a:xfrm>
            <a:off x="640080" y="6400800"/>
            <a:ext cx="4572000" cy="274320"/>
          </a:xfrm>
          <a:prstGeom prst="rect">
            <a:avLst/>
          </a:prstGeom>
          <a:noFill/>
          <a:ln/>
        </p:spPr>
        <p:txBody>
          <a:bodyPr wrap="square" rtlCol="0" anchor="ctr"/>
          <a:lstStyle/>
          <a:p>
            <a:pPr marL="0" indent="0">
              <a:buNone/>
            </a:pPr>
            <a:r>
              <a:rPr lang="en-US" sz="900" kern="0" spc="100" dirty="0">
                <a:solidFill>
                  <a:srgbClr val="6B7280"/>
                </a:solidFill>
                <a:latin typeface="Verdana" panose="020B0604030504040204" pitchFamily="34" charset="0"/>
                <a:ea typeface="Verdana" panose="020B0604030504040204" pitchFamily="34" charset="0"/>
                <a:cs typeface="Calibri" pitchFamily="34" charset="-120"/>
              </a:rPr>
              <a:t>CAIDIC HARDWARE POS</a:t>
            </a:r>
            <a:endParaRPr lang="en-US" sz="900" dirty="0">
              <a:latin typeface="Verdana" panose="020B0604030504040204" pitchFamily="34" charset="0"/>
              <a:ea typeface="Verdana" panose="020B0604030504040204" pitchFamily="34" charset="0"/>
            </a:endParaRPr>
          </a:p>
        </p:txBody>
      </p:sp>
      <p:sp>
        <p:nvSpPr>
          <p:cNvPr id="19" name="Text 14"/>
          <p:cNvSpPr/>
          <p:nvPr/>
        </p:nvSpPr>
        <p:spPr>
          <a:xfrm>
            <a:off x="11002975" y="6400800"/>
            <a:ext cx="548640" cy="274320"/>
          </a:xfrm>
          <a:prstGeom prst="rect">
            <a:avLst/>
          </a:prstGeom>
          <a:noFill/>
          <a:ln/>
        </p:spPr>
        <p:txBody>
          <a:bodyPr wrap="square" rtlCol="0" anchor="ctr"/>
          <a:lstStyle/>
          <a:p>
            <a:pPr marL="0" indent="0" algn="r">
              <a:buNone/>
            </a:pPr>
            <a:r>
              <a:rPr lang="en-US" sz="900" dirty="0">
                <a:solidFill>
                  <a:srgbClr val="6B7280"/>
                </a:solidFill>
                <a:latin typeface="Verdana" panose="020B0604030504040204" pitchFamily="34" charset="0"/>
                <a:ea typeface="Verdana" panose="020B0604030504040204" pitchFamily="34" charset="0"/>
                <a:cs typeface="Calibri" pitchFamily="34" charset="-120"/>
              </a:rPr>
              <a:t>3</a:t>
            </a:r>
            <a:endParaRPr lang="en-US" sz="900" dirty="0">
              <a:latin typeface="Verdana" panose="020B0604030504040204" pitchFamily="34" charset="0"/>
              <a:ea typeface="Verdana" panose="020B060403050404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3F6"/>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731520"/>
          </a:xfrm>
          <a:prstGeom prst="rect">
            <a:avLst/>
          </a:prstGeom>
          <a:noFill/>
          <a:ln/>
        </p:spPr>
        <p:txBody>
          <a:bodyPr wrap="square" rtlCol="0" anchor="ctr"/>
          <a:lstStyle/>
          <a:p>
            <a:pPr marL="0" indent="0">
              <a:buNone/>
            </a:pPr>
            <a:r>
              <a:rPr lang="en-US" sz="3200" b="1" dirty="0">
                <a:solidFill>
                  <a:srgbClr val="0F1B2E"/>
                </a:solidFill>
                <a:latin typeface="Verdana" panose="020B0604030504040204" pitchFamily="34" charset="0"/>
                <a:ea typeface="Verdana" panose="020B0604030504040204" pitchFamily="34" charset="0"/>
                <a:cs typeface="Cambria" pitchFamily="34" charset="-120"/>
              </a:rPr>
              <a:t>What’s Ready Today</a:t>
            </a:r>
            <a:endParaRPr lang="en-US" sz="3200" dirty="0">
              <a:latin typeface="Verdana" panose="020B0604030504040204" pitchFamily="34" charset="0"/>
              <a:ea typeface="Verdana" panose="020B0604030504040204" pitchFamily="34" charset="0"/>
            </a:endParaRPr>
          </a:p>
        </p:txBody>
      </p:sp>
      <p:sp>
        <p:nvSpPr>
          <p:cNvPr id="3" name="Text 1"/>
          <p:cNvSpPr/>
          <p:nvPr/>
        </p:nvSpPr>
        <p:spPr>
          <a:xfrm>
            <a:off x="640080" y="1188720"/>
            <a:ext cx="10881360" cy="365760"/>
          </a:xfrm>
          <a:prstGeom prst="rect">
            <a:avLst/>
          </a:prstGeom>
          <a:noFill/>
          <a:ln/>
        </p:spPr>
        <p:txBody>
          <a:bodyPr wrap="square" rtlCol="0" anchor="ctr"/>
          <a:lstStyle/>
          <a:p>
            <a:pPr marL="0" indent="0">
              <a:buNone/>
            </a:pPr>
            <a:r>
              <a:rPr lang="en-US" sz="1400" dirty="0">
                <a:solidFill>
                  <a:srgbClr val="6B7280"/>
                </a:solidFill>
                <a:latin typeface="Verdana" panose="020B0604030504040204" pitchFamily="34" charset="0"/>
                <a:ea typeface="Verdana" panose="020B0604030504040204" pitchFamily="34" charset="0"/>
                <a:cs typeface="Calibri" pitchFamily="34" charset="-120"/>
              </a:rPr>
              <a:t>Four pieces are built and working right now</a:t>
            </a:r>
            <a:endParaRPr lang="en-US" sz="1400" dirty="0">
              <a:latin typeface="Verdana" panose="020B0604030504040204" pitchFamily="34" charset="0"/>
              <a:ea typeface="Verdana" panose="020B0604030504040204" pitchFamily="34" charset="0"/>
            </a:endParaRPr>
          </a:p>
        </p:txBody>
      </p:sp>
      <p:sp>
        <p:nvSpPr>
          <p:cNvPr id="4" name="Shape 2"/>
          <p:cNvSpPr/>
          <p:nvPr/>
        </p:nvSpPr>
        <p:spPr>
          <a:xfrm>
            <a:off x="640080" y="1874520"/>
            <a:ext cx="5349240" cy="1691640"/>
          </a:xfrm>
          <a:prstGeom prst="roundRect">
            <a:avLst>
              <a:gd name="adj" fmla="val 5405"/>
            </a:avLst>
          </a:prstGeom>
          <a:solidFill>
            <a:srgbClr val="FFFFFF"/>
          </a:solidFill>
          <a:ln/>
          <a:effectLst>
            <a:outerShdw blurRad="114300" dist="38100" dir="5400000" algn="bl" rotWithShape="0">
              <a:srgbClr val="0F1B2E">
                <a:alpha val="14000"/>
              </a:srgbClr>
            </a:outerShdw>
          </a:effectLst>
        </p:spPr>
        <p:txBody>
          <a:bodyPr/>
          <a:lstStyle/>
          <a:p>
            <a:endParaRPr lang="en-PH" dirty="0">
              <a:latin typeface="Verdana" panose="020B0604030504040204" pitchFamily="34" charset="0"/>
              <a:ea typeface="Verdana" panose="020B0604030504040204" pitchFamily="34" charset="0"/>
            </a:endParaRPr>
          </a:p>
        </p:txBody>
      </p:sp>
      <p:sp>
        <p:nvSpPr>
          <p:cNvPr id="5" name="Shape 3"/>
          <p:cNvSpPr/>
          <p:nvPr/>
        </p:nvSpPr>
        <p:spPr>
          <a:xfrm>
            <a:off x="914400" y="2331720"/>
            <a:ext cx="777240" cy="777240"/>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pic>
        <p:nvPicPr>
          <p:cNvPr id="6" name="Image 0" descr="/home/claude/pos-meeting/icons/cart_blue.png"/>
          <p:cNvPicPr>
            <a:picLocks noChangeAspect="1"/>
          </p:cNvPicPr>
          <p:nvPr/>
        </p:nvPicPr>
        <p:blipFill>
          <a:blip r:embed="rId3"/>
          <a:stretch>
            <a:fillRect/>
          </a:stretch>
        </p:blipFill>
        <p:spPr>
          <a:xfrm>
            <a:off x="1116482" y="2533802"/>
            <a:ext cx="373075" cy="373075"/>
          </a:xfrm>
          <a:prstGeom prst="rect">
            <a:avLst/>
          </a:prstGeom>
        </p:spPr>
      </p:pic>
      <p:sp>
        <p:nvSpPr>
          <p:cNvPr id="7" name="Text 4"/>
          <p:cNvSpPr/>
          <p:nvPr/>
        </p:nvSpPr>
        <p:spPr>
          <a:xfrm>
            <a:off x="1874520" y="2130552"/>
            <a:ext cx="3886200" cy="457200"/>
          </a:xfrm>
          <a:prstGeom prst="rect">
            <a:avLst/>
          </a:prstGeom>
          <a:noFill/>
          <a:ln/>
        </p:spPr>
        <p:txBody>
          <a:bodyPr wrap="square" rtlCol="0" anchor="ctr"/>
          <a:lstStyle/>
          <a:p>
            <a:pPr marL="0" indent="0">
              <a:buNone/>
            </a:pPr>
            <a:r>
              <a:rPr lang="en-US" sz="1700" b="1" dirty="0">
                <a:solidFill>
                  <a:srgbClr val="0F1B2E"/>
                </a:solidFill>
                <a:latin typeface="Verdana" panose="020B0604030504040204" pitchFamily="34" charset="0"/>
                <a:ea typeface="Verdana" panose="020B0604030504040204" pitchFamily="34" charset="0"/>
                <a:cs typeface="Cambria" pitchFamily="34" charset="-120"/>
              </a:rPr>
              <a:t>Checkout Screen</a:t>
            </a:r>
            <a:endParaRPr lang="en-US" sz="1700" dirty="0">
              <a:latin typeface="Verdana" panose="020B0604030504040204" pitchFamily="34" charset="0"/>
              <a:ea typeface="Verdana" panose="020B0604030504040204" pitchFamily="34" charset="0"/>
            </a:endParaRPr>
          </a:p>
        </p:txBody>
      </p:sp>
      <p:sp>
        <p:nvSpPr>
          <p:cNvPr id="8" name="Text 5"/>
          <p:cNvSpPr/>
          <p:nvPr/>
        </p:nvSpPr>
        <p:spPr>
          <a:xfrm>
            <a:off x="1874520" y="2624328"/>
            <a:ext cx="3886200" cy="822960"/>
          </a:xfrm>
          <a:prstGeom prst="rect">
            <a:avLst/>
          </a:prstGeom>
          <a:noFill/>
          <a:ln/>
        </p:spPr>
        <p:txBody>
          <a:bodyPr wrap="square" rtlCol="0" anchor="t"/>
          <a:lstStyle/>
          <a:p>
            <a:pPr marL="0" indent="0">
              <a:lnSpc>
                <a:spcPct val="115000"/>
              </a:lnSpc>
              <a:buNone/>
            </a:pPr>
            <a:r>
              <a:rPr lang="en-US" sz="1250" dirty="0">
                <a:solidFill>
                  <a:srgbClr val="6B7280"/>
                </a:solidFill>
                <a:latin typeface="Verdana" panose="020B0604030504040204" pitchFamily="34" charset="0"/>
                <a:ea typeface="Verdana" panose="020B0604030504040204" pitchFamily="34" charset="0"/>
                <a:cs typeface="Calibri" pitchFamily="34" charset="-120"/>
              </a:rPr>
              <a:t>Cashiers ring up sales fast by search or barcode scan.</a:t>
            </a:r>
            <a:endParaRPr lang="en-US" sz="1250" dirty="0">
              <a:latin typeface="Verdana" panose="020B0604030504040204" pitchFamily="34" charset="0"/>
              <a:ea typeface="Verdana" panose="020B0604030504040204" pitchFamily="34" charset="0"/>
            </a:endParaRPr>
          </a:p>
        </p:txBody>
      </p:sp>
      <p:sp>
        <p:nvSpPr>
          <p:cNvPr id="9" name="Shape 6"/>
          <p:cNvSpPr/>
          <p:nvPr/>
        </p:nvSpPr>
        <p:spPr>
          <a:xfrm>
            <a:off x="6355080" y="1874520"/>
            <a:ext cx="5349240" cy="1691640"/>
          </a:xfrm>
          <a:prstGeom prst="roundRect">
            <a:avLst>
              <a:gd name="adj" fmla="val 5405"/>
            </a:avLst>
          </a:prstGeom>
          <a:solidFill>
            <a:srgbClr val="FFFFFF"/>
          </a:solidFill>
          <a:ln/>
          <a:effectLst>
            <a:outerShdw blurRad="114300" dist="38100" dir="5400000" algn="bl" rotWithShape="0">
              <a:srgbClr val="0F1B2E">
                <a:alpha val="14000"/>
              </a:srgbClr>
            </a:outerShdw>
          </a:effectLst>
        </p:spPr>
        <p:txBody>
          <a:bodyPr/>
          <a:lstStyle/>
          <a:p>
            <a:endParaRPr lang="en-PH">
              <a:latin typeface="Verdana" panose="020B0604030504040204" pitchFamily="34" charset="0"/>
              <a:ea typeface="Verdana" panose="020B0604030504040204" pitchFamily="34" charset="0"/>
            </a:endParaRPr>
          </a:p>
        </p:txBody>
      </p:sp>
      <p:sp>
        <p:nvSpPr>
          <p:cNvPr id="10" name="Shape 7"/>
          <p:cNvSpPr/>
          <p:nvPr/>
        </p:nvSpPr>
        <p:spPr>
          <a:xfrm>
            <a:off x="6629400" y="2331720"/>
            <a:ext cx="777240" cy="777240"/>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pic>
        <p:nvPicPr>
          <p:cNvPr id="11" name="Image 1" descr="/home/claude/pos-meeting/icons/package_blue.png"/>
          <p:cNvPicPr>
            <a:picLocks noChangeAspect="1"/>
          </p:cNvPicPr>
          <p:nvPr/>
        </p:nvPicPr>
        <p:blipFill>
          <a:blip r:embed="rId4"/>
          <a:stretch>
            <a:fillRect/>
          </a:stretch>
        </p:blipFill>
        <p:spPr>
          <a:xfrm>
            <a:off x="6831482" y="2533802"/>
            <a:ext cx="373075" cy="373075"/>
          </a:xfrm>
          <a:prstGeom prst="rect">
            <a:avLst/>
          </a:prstGeom>
        </p:spPr>
      </p:pic>
      <p:sp>
        <p:nvSpPr>
          <p:cNvPr id="12" name="Text 8"/>
          <p:cNvSpPr/>
          <p:nvPr/>
        </p:nvSpPr>
        <p:spPr>
          <a:xfrm>
            <a:off x="7589520" y="2130552"/>
            <a:ext cx="3886200" cy="457200"/>
          </a:xfrm>
          <a:prstGeom prst="rect">
            <a:avLst/>
          </a:prstGeom>
          <a:noFill/>
          <a:ln/>
        </p:spPr>
        <p:txBody>
          <a:bodyPr wrap="square" rtlCol="0" anchor="ctr"/>
          <a:lstStyle/>
          <a:p>
            <a:pPr marL="0" indent="0">
              <a:buNone/>
            </a:pPr>
            <a:r>
              <a:rPr lang="en-US" sz="1700" b="1" dirty="0">
                <a:solidFill>
                  <a:srgbClr val="0F1B2E"/>
                </a:solidFill>
                <a:latin typeface="Verdana" panose="020B0604030504040204" pitchFamily="34" charset="0"/>
                <a:ea typeface="Verdana" panose="020B0604030504040204" pitchFamily="34" charset="0"/>
                <a:cs typeface="Cambria" pitchFamily="34" charset="-120"/>
              </a:rPr>
              <a:t>Inventory Tracking</a:t>
            </a:r>
            <a:endParaRPr lang="en-US" sz="1700" dirty="0">
              <a:latin typeface="Verdana" panose="020B0604030504040204" pitchFamily="34" charset="0"/>
              <a:ea typeface="Verdana" panose="020B0604030504040204" pitchFamily="34" charset="0"/>
            </a:endParaRPr>
          </a:p>
        </p:txBody>
      </p:sp>
      <p:sp>
        <p:nvSpPr>
          <p:cNvPr id="13" name="Text 9"/>
          <p:cNvSpPr/>
          <p:nvPr/>
        </p:nvSpPr>
        <p:spPr>
          <a:xfrm>
            <a:off x="7589520" y="2624328"/>
            <a:ext cx="3886200" cy="822960"/>
          </a:xfrm>
          <a:prstGeom prst="rect">
            <a:avLst/>
          </a:prstGeom>
          <a:noFill/>
          <a:ln/>
        </p:spPr>
        <p:txBody>
          <a:bodyPr wrap="square" rtlCol="0" anchor="t"/>
          <a:lstStyle/>
          <a:p>
            <a:pPr marL="0" indent="0">
              <a:lnSpc>
                <a:spcPct val="115000"/>
              </a:lnSpc>
              <a:buNone/>
            </a:pPr>
            <a:r>
              <a:rPr lang="en-US" sz="1250" dirty="0">
                <a:solidFill>
                  <a:srgbClr val="6B7280"/>
                </a:solidFill>
                <a:latin typeface="Verdana" panose="020B0604030504040204" pitchFamily="34" charset="0"/>
                <a:ea typeface="Verdana" panose="020B0604030504040204" pitchFamily="34" charset="0"/>
                <a:cs typeface="Calibri" pitchFamily="34" charset="-120"/>
              </a:rPr>
              <a:t>Stock levels update the moment something sells.</a:t>
            </a:r>
            <a:endParaRPr lang="en-US" sz="1250" dirty="0">
              <a:latin typeface="Verdana" panose="020B0604030504040204" pitchFamily="34" charset="0"/>
              <a:ea typeface="Verdana" panose="020B0604030504040204" pitchFamily="34" charset="0"/>
            </a:endParaRPr>
          </a:p>
        </p:txBody>
      </p:sp>
      <p:sp>
        <p:nvSpPr>
          <p:cNvPr id="14" name="Shape 10"/>
          <p:cNvSpPr/>
          <p:nvPr/>
        </p:nvSpPr>
        <p:spPr>
          <a:xfrm>
            <a:off x="640080" y="3886200"/>
            <a:ext cx="5349240" cy="1691640"/>
          </a:xfrm>
          <a:prstGeom prst="roundRect">
            <a:avLst>
              <a:gd name="adj" fmla="val 5405"/>
            </a:avLst>
          </a:prstGeom>
          <a:solidFill>
            <a:srgbClr val="FFFFFF"/>
          </a:solidFill>
          <a:ln/>
          <a:effectLst>
            <a:outerShdw blurRad="114300" dist="38100" dir="5400000" algn="bl" rotWithShape="0">
              <a:srgbClr val="0F1B2E">
                <a:alpha val="14000"/>
              </a:srgbClr>
            </a:outerShdw>
          </a:effectLst>
        </p:spPr>
        <p:txBody>
          <a:bodyPr/>
          <a:lstStyle/>
          <a:p>
            <a:endParaRPr lang="en-PH">
              <a:latin typeface="Verdana" panose="020B0604030504040204" pitchFamily="34" charset="0"/>
              <a:ea typeface="Verdana" panose="020B0604030504040204" pitchFamily="34" charset="0"/>
            </a:endParaRPr>
          </a:p>
        </p:txBody>
      </p:sp>
      <p:sp>
        <p:nvSpPr>
          <p:cNvPr id="15" name="Shape 11"/>
          <p:cNvSpPr/>
          <p:nvPr/>
        </p:nvSpPr>
        <p:spPr>
          <a:xfrm>
            <a:off x="914400" y="4343400"/>
            <a:ext cx="777240" cy="777240"/>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pic>
        <p:nvPicPr>
          <p:cNvPr id="16" name="Image 2" descr="/home/claude/pos-meeting/icons/users_blue.png"/>
          <p:cNvPicPr>
            <a:picLocks noChangeAspect="1"/>
          </p:cNvPicPr>
          <p:nvPr/>
        </p:nvPicPr>
        <p:blipFill>
          <a:blip r:embed="rId5"/>
          <a:stretch>
            <a:fillRect/>
          </a:stretch>
        </p:blipFill>
        <p:spPr>
          <a:xfrm>
            <a:off x="1116482" y="4545482"/>
            <a:ext cx="373075" cy="373075"/>
          </a:xfrm>
          <a:prstGeom prst="rect">
            <a:avLst/>
          </a:prstGeom>
        </p:spPr>
      </p:pic>
      <p:sp>
        <p:nvSpPr>
          <p:cNvPr id="17" name="Text 12"/>
          <p:cNvSpPr/>
          <p:nvPr/>
        </p:nvSpPr>
        <p:spPr>
          <a:xfrm>
            <a:off x="1874520" y="4142232"/>
            <a:ext cx="3886200" cy="457200"/>
          </a:xfrm>
          <a:prstGeom prst="rect">
            <a:avLst/>
          </a:prstGeom>
          <a:noFill/>
          <a:ln/>
        </p:spPr>
        <p:txBody>
          <a:bodyPr wrap="square" rtlCol="0" anchor="ctr"/>
          <a:lstStyle/>
          <a:p>
            <a:pPr marL="0" indent="0">
              <a:buNone/>
            </a:pPr>
            <a:r>
              <a:rPr lang="en-US" sz="1700" b="1" dirty="0">
                <a:solidFill>
                  <a:srgbClr val="0F1B2E"/>
                </a:solidFill>
                <a:latin typeface="Verdana" panose="020B0604030504040204" pitchFamily="34" charset="0"/>
                <a:ea typeface="Verdana" panose="020B0604030504040204" pitchFamily="34" charset="0"/>
                <a:cs typeface="Cambria" pitchFamily="34" charset="-120"/>
              </a:rPr>
              <a:t>Staff Accounts</a:t>
            </a:r>
            <a:endParaRPr lang="en-US" sz="1700" dirty="0">
              <a:latin typeface="Verdana" panose="020B0604030504040204" pitchFamily="34" charset="0"/>
              <a:ea typeface="Verdana" panose="020B0604030504040204" pitchFamily="34" charset="0"/>
            </a:endParaRPr>
          </a:p>
        </p:txBody>
      </p:sp>
      <p:sp>
        <p:nvSpPr>
          <p:cNvPr id="18" name="Text 13"/>
          <p:cNvSpPr/>
          <p:nvPr/>
        </p:nvSpPr>
        <p:spPr>
          <a:xfrm>
            <a:off x="1874520" y="4636008"/>
            <a:ext cx="3886200" cy="822960"/>
          </a:xfrm>
          <a:prstGeom prst="rect">
            <a:avLst/>
          </a:prstGeom>
          <a:noFill/>
          <a:ln/>
        </p:spPr>
        <p:txBody>
          <a:bodyPr wrap="square" rtlCol="0" anchor="t"/>
          <a:lstStyle/>
          <a:p>
            <a:pPr marL="0" indent="0">
              <a:lnSpc>
                <a:spcPct val="115000"/>
              </a:lnSpc>
              <a:buNone/>
            </a:pPr>
            <a:r>
              <a:rPr lang="en-US" sz="1250" dirty="0">
                <a:solidFill>
                  <a:srgbClr val="6B7280"/>
                </a:solidFill>
                <a:latin typeface="Verdana" panose="020B0604030504040204" pitchFamily="34" charset="0"/>
                <a:ea typeface="Verdana" panose="020B0604030504040204" pitchFamily="34" charset="0"/>
                <a:cs typeface="Calibri" pitchFamily="34" charset="-120"/>
              </a:rPr>
              <a:t>Each cashier and owner has their own simple login.</a:t>
            </a:r>
            <a:endParaRPr lang="en-US" sz="1250" dirty="0">
              <a:latin typeface="Verdana" panose="020B0604030504040204" pitchFamily="34" charset="0"/>
              <a:ea typeface="Verdana" panose="020B0604030504040204" pitchFamily="34" charset="0"/>
            </a:endParaRPr>
          </a:p>
        </p:txBody>
      </p:sp>
      <p:sp>
        <p:nvSpPr>
          <p:cNvPr id="19" name="Shape 14"/>
          <p:cNvSpPr/>
          <p:nvPr/>
        </p:nvSpPr>
        <p:spPr>
          <a:xfrm>
            <a:off x="6355080" y="3886200"/>
            <a:ext cx="5349240" cy="1691640"/>
          </a:xfrm>
          <a:prstGeom prst="roundRect">
            <a:avLst>
              <a:gd name="adj" fmla="val 5405"/>
            </a:avLst>
          </a:prstGeom>
          <a:solidFill>
            <a:srgbClr val="FFFFFF"/>
          </a:solidFill>
          <a:ln/>
          <a:effectLst>
            <a:outerShdw blurRad="114300" dist="38100" dir="5400000" algn="bl" rotWithShape="0">
              <a:srgbClr val="0F1B2E">
                <a:alpha val="14000"/>
              </a:srgbClr>
            </a:outerShdw>
          </a:effectLst>
        </p:spPr>
        <p:txBody>
          <a:bodyPr/>
          <a:lstStyle/>
          <a:p>
            <a:endParaRPr lang="en-PH">
              <a:latin typeface="Verdana" panose="020B0604030504040204" pitchFamily="34" charset="0"/>
              <a:ea typeface="Verdana" panose="020B0604030504040204" pitchFamily="34" charset="0"/>
            </a:endParaRPr>
          </a:p>
        </p:txBody>
      </p:sp>
      <p:sp>
        <p:nvSpPr>
          <p:cNvPr id="20" name="Shape 15"/>
          <p:cNvSpPr/>
          <p:nvPr/>
        </p:nvSpPr>
        <p:spPr>
          <a:xfrm>
            <a:off x="6629400" y="4343400"/>
            <a:ext cx="777240" cy="777240"/>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pic>
        <p:nvPicPr>
          <p:cNvPr id="21" name="Image 3" descr="/home/claude/pos-meeting/icons/cloud_blue.png"/>
          <p:cNvPicPr>
            <a:picLocks noChangeAspect="1"/>
          </p:cNvPicPr>
          <p:nvPr/>
        </p:nvPicPr>
        <p:blipFill>
          <a:blip r:embed="rId6"/>
          <a:stretch>
            <a:fillRect/>
          </a:stretch>
        </p:blipFill>
        <p:spPr>
          <a:xfrm>
            <a:off x="6831482" y="4545482"/>
            <a:ext cx="373075" cy="373075"/>
          </a:xfrm>
          <a:prstGeom prst="rect">
            <a:avLst/>
          </a:prstGeom>
        </p:spPr>
      </p:pic>
      <p:sp>
        <p:nvSpPr>
          <p:cNvPr id="22" name="Text 16"/>
          <p:cNvSpPr/>
          <p:nvPr/>
        </p:nvSpPr>
        <p:spPr>
          <a:xfrm>
            <a:off x="7589520" y="4142232"/>
            <a:ext cx="3886200" cy="457200"/>
          </a:xfrm>
          <a:prstGeom prst="rect">
            <a:avLst/>
          </a:prstGeom>
          <a:noFill/>
          <a:ln/>
        </p:spPr>
        <p:txBody>
          <a:bodyPr wrap="square" rtlCol="0" anchor="ctr"/>
          <a:lstStyle/>
          <a:p>
            <a:pPr marL="0" indent="0">
              <a:buNone/>
            </a:pPr>
            <a:r>
              <a:rPr lang="en-US" sz="1700" b="1" dirty="0">
                <a:solidFill>
                  <a:srgbClr val="0F1B2E"/>
                </a:solidFill>
                <a:latin typeface="Verdana" panose="020B0604030504040204" pitchFamily="34" charset="0"/>
                <a:ea typeface="Verdana" panose="020B0604030504040204" pitchFamily="34" charset="0"/>
                <a:cs typeface="Cambria" pitchFamily="34" charset="-120"/>
              </a:rPr>
              <a:t>Automatic Backup</a:t>
            </a:r>
            <a:endParaRPr lang="en-US" sz="1700" dirty="0">
              <a:latin typeface="Verdana" panose="020B0604030504040204" pitchFamily="34" charset="0"/>
              <a:ea typeface="Verdana" panose="020B0604030504040204" pitchFamily="34" charset="0"/>
            </a:endParaRPr>
          </a:p>
        </p:txBody>
      </p:sp>
      <p:sp>
        <p:nvSpPr>
          <p:cNvPr id="23" name="Text 17"/>
          <p:cNvSpPr/>
          <p:nvPr/>
        </p:nvSpPr>
        <p:spPr>
          <a:xfrm>
            <a:off x="7589520" y="4636008"/>
            <a:ext cx="3886200" cy="822960"/>
          </a:xfrm>
          <a:prstGeom prst="rect">
            <a:avLst/>
          </a:prstGeom>
          <a:noFill/>
          <a:ln/>
        </p:spPr>
        <p:txBody>
          <a:bodyPr wrap="square" rtlCol="0" anchor="t"/>
          <a:lstStyle/>
          <a:p>
            <a:pPr marL="0" indent="0">
              <a:lnSpc>
                <a:spcPct val="115000"/>
              </a:lnSpc>
              <a:buNone/>
            </a:pPr>
            <a:r>
              <a:rPr lang="en-US" sz="1250" dirty="0">
                <a:solidFill>
                  <a:srgbClr val="6B7280"/>
                </a:solidFill>
                <a:latin typeface="Verdana" panose="020B0604030504040204" pitchFamily="34" charset="0"/>
                <a:ea typeface="Verdana" panose="020B0604030504040204" pitchFamily="34" charset="0"/>
                <a:cs typeface="Calibri" pitchFamily="34" charset="-120"/>
              </a:rPr>
              <a:t>Sales are saved safely and backed up on their own.</a:t>
            </a:r>
            <a:endParaRPr lang="en-US" sz="1250" dirty="0">
              <a:latin typeface="Verdana" panose="020B0604030504040204" pitchFamily="34" charset="0"/>
              <a:ea typeface="Verdana" panose="020B0604030504040204" pitchFamily="34" charset="0"/>
            </a:endParaRPr>
          </a:p>
        </p:txBody>
      </p:sp>
      <p:sp>
        <p:nvSpPr>
          <p:cNvPr id="24" name="Text 18"/>
          <p:cNvSpPr/>
          <p:nvPr/>
        </p:nvSpPr>
        <p:spPr>
          <a:xfrm>
            <a:off x="640080" y="6400800"/>
            <a:ext cx="4572000" cy="274320"/>
          </a:xfrm>
          <a:prstGeom prst="rect">
            <a:avLst/>
          </a:prstGeom>
          <a:noFill/>
          <a:ln/>
        </p:spPr>
        <p:txBody>
          <a:bodyPr wrap="square" rtlCol="0" anchor="ctr"/>
          <a:lstStyle/>
          <a:p>
            <a:pPr marL="0" indent="0">
              <a:buNone/>
            </a:pPr>
            <a:r>
              <a:rPr lang="en-US" sz="900" kern="0" spc="100" dirty="0">
                <a:solidFill>
                  <a:srgbClr val="6B7280"/>
                </a:solidFill>
                <a:latin typeface="Verdana" panose="020B0604030504040204" pitchFamily="34" charset="0"/>
                <a:ea typeface="Verdana" panose="020B0604030504040204" pitchFamily="34" charset="0"/>
                <a:cs typeface="Calibri" pitchFamily="34" charset="-120"/>
              </a:rPr>
              <a:t>CAIDIC HARDWARE POS</a:t>
            </a:r>
            <a:endParaRPr lang="en-US" sz="900" dirty="0">
              <a:latin typeface="Verdana" panose="020B0604030504040204" pitchFamily="34" charset="0"/>
              <a:ea typeface="Verdana" panose="020B0604030504040204" pitchFamily="34" charset="0"/>
            </a:endParaRPr>
          </a:p>
        </p:txBody>
      </p:sp>
      <p:sp>
        <p:nvSpPr>
          <p:cNvPr id="25" name="Text 19"/>
          <p:cNvSpPr/>
          <p:nvPr/>
        </p:nvSpPr>
        <p:spPr>
          <a:xfrm>
            <a:off x="11002975" y="6400800"/>
            <a:ext cx="548640" cy="274320"/>
          </a:xfrm>
          <a:prstGeom prst="rect">
            <a:avLst/>
          </a:prstGeom>
          <a:noFill/>
          <a:ln/>
        </p:spPr>
        <p:txBody>
          <a:bodyPr wrap="square" rtlCol="0" anchor="ctr"/>
          <a:lstStyle/>
          <a:p>
            <a:pPr marL="0" indent="0" algn="r">
              <a:buNone/>
            </a:pPr>
            <a:r>
              <a:rPr lang="en-US" sz="900" dirty="0">
                <a:solidFill>
                  <a:srgbClr val="6B7280"/>
                </a:solidFill>
                <a:latin typeface="Verdana" panose="020B0604030504040204" pitchFamily="34" charset="0"/>
                <a:ea typeface="Verdana" panose="020B0604030504040204" pitchFamily="34" charset="0"/>
                <a:cs typeface="Calibri" pitchFamily="34" charset="-120"/>
              </a:rPr>
              <a:t>4</a:t>
            </a:r>
            <a:endParaRPr lang="en-US" sz="900" dirty="0">
              <a:latin typeface="Verdana" panose="020B0604030504040204" pitchFamily="34" charset="0"/>
              <a:ea typeface="Verdana" panose="020B060403050404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3F6"/>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731520"/>
          </a:xfrm>
          <a:prstGeom prst="rect">
            <a:avLst/>
          </a:prstGeom>
          <a:noFill/>
          <a:ln/>
        </p:spPr>
        <p:txBody>
          <a:bodyPr wrap="square" rtlCol="0" anchor="ctr"/>
          <a:lstStyle/>
          <a:p>
            <a:pPr marL="0" indent="0">
              <a:buNone/>
            </a:pPr>
            <a:r>
              <a:rPr lang="en-US" sz="3200" b="1" dirty="0">
                <a:solidFill>
                  <a:srgbClr val="0F1B2E"/>
                </a:solidFill>
                <a:latin typeface="Verdana" panose="020B0604030504040204" pitchFamily="34" charset="0"/>
                <a:ea typeface="Verdana" panose="020B0604030504040204" pitchFamily="34" charset="0"/>
                <a:cs typeface="Cambria" pitchFamily="34" charset="-120"/>
              </a:rPr>
              <a:t>1. Works Even Without Internet</a:t>
            </a:r>
            <a:endParaRPr lang="en-US" sz="3200" dirty="0">
              <a:latin typeface="Verdana" panose="020B0604030504040204" pitchFamily="34" charset="0"/>
              <a:ea typeface="Verdana" panose="020B0604030504040204" pitchFamily="34" charset="0"/>
            </a:endParaRPr>
          </a:p>
        </p:txBody>
      </p:sp>
      <p:sp>
        <p:nvSpPr>
          <p:cNvPr id="3" name="Text 1"/>
          <p:cNvSpPr/>
          <p:nvPr/>
        </p:nvSpPr>
        <p:spPr>
          <a:xfrm>
            <a:off x="640080" y="2148840"/>
            <a:ext cx="5029200" cy="3291840"/>
          </a:xfrm>
          <a:prstGeom prst="rect">
            <a:avLst/>
          </a:prstGeom>
          <a:noFill/>
          <a:ln/>
        </p:spPr>
        <p:txBody>
          <a:bodyPr wrap="square" rtlCol="0" anchor="t"/>
          <a:lstStyle/>
          <a:p>
            <a:pPr marL="0" indent="0">
              <a:lnSpc>
                <a:spcPct val="135000"/>
              </a:lnSpc>
              <a:buNone/>
            </a:pPr>
            <a:r>
              <a:rPr lang="en-US" sz="1900" b="1" dirty="0">
                <a:solidFill>
                  <a:srgbClr val="0F1B2E"/>
                </a:solidFill>
                <a:latin typeface="Verdana" panose="020B0604030504040204" pitchFamily="34" charset="0"/>
                <a:ea typeface="Verdana" panose="020B0604030504040204" pitchFamily="34" charset="0"/>
                <a:cs typeface="Calibri" pitchFamily="34" charset="-120"/>
              </a:rPr>
              <a:t>If the connection drops, checkout keeps working.</a:t>
            </a:r>
            <a:endParaRPr lang="en-US" sz="1900" dirty="0">
              <a:latin typeface="Verdana" panose="020B0604030504040204" pitchFamily="34" charset="0"/>
              <a:ea typeface="Verdana" panose="020B0604030504040204" pitchFamily="34" charset="0"/>
            </a:endParaRPr>
          </a:p>
          <a:p>
            <a:pPr marL="0" indent="0">
              <a:lnSpc>
                <a:spcPct val="135000"/>
              </a:lnSpc>
              <a:buNone/>
            </a:pPr>
            <a:r>
              <a:rPr lang="en-US" sz="800" dirty="0">
                <a:solidFill>
                  <a:srgbClr val="000000"/>
                </a:solidFill>
                <a:latin typeface="Verdana" panose="020B0604030504040204" pitchFamily="34" charset="0"/>
                <a:ea typeface="Verdana" panose="020B0604030504040204" pitchFamily="34" charset="0"/>
                <a:cs typeface="Calibri" pitchFamily="34" charset="-120"/>
              </a:rPr>
              <a:t> </a:t>
            </a:r>
            <a:endParaRPr lang="en-US" sz="1900" dirty="0">
              <a:latin typeface="Verdana" panose="020B0604030504040204" pitchFamily="34" charset="0"/>
              <a:ea typeface="Verdana" panose="020B0604030504040204" pitchFamily="34" charset="0"/>
            </a:endParaRPr>
          </a:p>
          <a:p>
            <a:pPr marL="0" indent="0">
              <a:lnSpc>
                <a:spcPct val="135000"/>
              </a:lnSpc>
              <a:buNone/>
            </a:pPr>
            <a:r>
              <a:rPr lang="en-US" sz="1500" dirty="0">
                <a:solidFill>
                  <a:srgbClr val="6B7280"/>
                </a:solidFill>
                <a:latin typeface="Verdana" panose="020B0604030504040204" pitchFamily="34" charset="0"/>
                <a:ea typeface="Verdana" panose="020B0604030504040204" pitchFamily="34" charset="0"/>
                <a:cs typeface="Calibri" pitchFamily="34" charset="-120"/>
              </a:rPr>
              <a:t>Every sale is saved on the device right away, then sent to the cloud automatically once the internet comes back. Nothing is ever lost, your cashiers never need to stop and wait for a signal.</a:t>
            </a:r>
            <a:endParaRPr lang="en-US" sz="1900" dirty="0">
              <a:latin typeface="Verdana" panose="020B0604030504040204" pitchFamily="34" charset="0"/>
              <a:ea typeface="Verdana" panose="020B0604030504040204" pitchFamily="34" charset="0"/>
            </a:endParaRPr>
          </a:p>
        </p:txBody>
      </p:sp>
      <p:sp>
        <p:nvSpPr>
          <p:cNvPr id="4" name="Shape 2"/>
          <p:cNvSpPr/>
          <p:nvPr/>
        </p:nvSpPr>
        <p:spPr>
          <a:xfrm>
            <a:off x="6309360" y="2057400"/>
            <a:ext cx="5257800" cy="3429000"/>
          </a:xfrm>
          <a:prstGeom prst="roundRect">
            <a:avLst>
              <a:gd name="adj" fmla="val 3733"/>
            </a:avLst>
          </a:prstGeom>
          <a:solidFill>
            <a:srgbClr val="FFFFFF"/>
          </a:solidFill>
          <a:ln/>
          <a:effectLst>
            <a:outerShdw blurRad="114300" dist="38100" dir="5400000" algn="bl" rotWithShape="0">
              <a:srgbClr val="0F1B2E">
                <a:alpha val="14000"/>
              </a:srgbClr>
            </a:outerShdw>
          </a:effectLst>
        </p:spPr>
        <p:txBody>
          <a:bodyPr/>
          <a:lstStyle/>
          <a:p>
            <a:endParaRPr lang="en-PH">
              <a:latin typeface="Verdana" panose="020B0604030504040204" pitchFamily="34" charset="0"/>
              <a:ea typeface="Verdana" panose="020B0604030504040204" pitchFamily="34" charset="0"/>
            </a:endParaRPr>
          </a:p>
        </p:txBody>
      </p:sp>
      <p:sp>
        <p:nvSpPr>
          <p:cNvPr id="5" name="Shape 3"/>
          <p:cNvSpPr/>
          <p:nvPr/>
        </p:nvSpPr>
        <p:spPr>
          <a:xfrm>
            <a:off x="6995160" y="2834640"/>
            <a:ext cx="1188720" cy="1188720"/>
          </a:xfrm>
          <a:prstGeom prst="ellipse">
            <a:avLst/>
          </a:prstGeom>
          <a:solidFill>
            <a:srgbClr val="FDECEC"/>
          </a:solidFill>
          <a:ln/>
        </p:spPr>
        <p:txBody>
          <a:bodyPr/>
          <a:lstStyle/>
          <a:p>
            <a:endParaRPr lang="en-PH">
              <a:latin typeface="Verdana" panose="020B0604030504040204" pitchFamily="34" charset="0"/>
              <a:ea typeface="Verdana" panose="020B0604030504040204" pitchFamily="34" charset="0"/>
            </a:endParaRPr>
          </a:p>
        </p:txBody>
      </p:sp>
      <p:pic>
        <p:nvPicPr>
          <p:cNvPr id="6" name="Image 0" descr="/home/claude/pos-meeting/icons/wifioff_navy.png"/>
          <p:cNvPicPr>
            <a:picLocks noChangeAspect="1"/>
          </p:cNvPicPr>
          <p:nvPr/>
        </p:nvPicPr>
        <p:blipFill>
          <a:blip r:embed="rId3"/>
          <a:stretch>
            <a:fillRect/>
          </a:stretch>
        </p:blipFill>
        <p:spPr>
          <a:xfrm>
            <a:off x="7316114" y="3155594"/>
            <a:ext cx="546811" cy="546811"/>
          </a:xfrm>
          <a:prstGeom prst="rect">
            <a:avLst/>
          </a:prstGeom>
        </p:spPr>
      </p:pic>
      <p:sp>
        <p:nvSpPr>
          <p:cNvPr id="7" name="Shape 4"/>
          <p:cNvSpPr/>
          <p:nvPr/>
        </p:nvSpPr>
        <p:spPr>
          <a:xfrm>
            <a:off x="9692640" y="2834640"/>
            <a:ext cx="1188720" cy="1188720"/>
          </a:xfrm>
          <a:prstGeom prst="ellipse">
            <a:avLst/>
          </a:prstGeom>
          <a:solidFill>
            <a:srgbClr val="E7F6EC"/>
          </a:solidFill>
          <a:ln/>
        </p:spPr>
        <p:txBody>
          <a:bodyPr/>
          <a:lstStyle/>
          <a:p>
            <a:endParaRPr lang="en-PH">
              <a:latin typeface="Verdana" panose="020B0604030504040204" pitchFamily="34" charset="0"/>
              <a:ea typeface="Verdana" panose="020B0604030504040204" pitchFamily="34" charset="0"/>
            </a:endParaRPr>
          </a:p>
        </p:txBody>
      </p:sp>
      <p:pic>
        <p:nvPicPr>
          <p:cNvPr id="8" name="Image 1" descr="/home/claude/pos-meeting/icons/checkcircle_navy.png"/>
          <p:cNvPicPr>
            <a:picLocks noChangeAspect="1"/>
          </p:cNvPicPr>
          <p:nvPr/>
        </p:nvPicPr>
        <p:blipFill>
          <a:blip r:embed="rId4"/>
          <a:stretch>
            <a:fillRect/>
          </a:stretch>
        </p:blipFill>
        <p:spPr>
          <a:xfrm>
            <a:off x="10013594" y="3155594"/>
            <a:ext cx="546811" cy="546811"/>
          </a:xfrm>
          <a:prstGeom prst="rect">
            <a:avLst/>
          </a:prstGeom>
        </p:spPr>
      </p:pic>
      <p:pic>
        <p:nvPicPr>
          <p:cNvPr id="9" name="Image 2" descr="/home/claude/pos-meeting/icons/arrowright_navy.png"/>
          <p:cNvPicPr>
            <a:picLocks noChangeAspect="1"/>
          </p:cNvPicPr>
          <p:nvPr/>
        </p:nvPicPr>
        <p:blipFill>
          <a:blip r:embed="rId5"/>
          <a:stretch>
            <a:fillRect/>
          </a:stretch>
        </p:blipFill>
        <p:spPr>
          <a:xfrm>
            <a:off x="8663940" y="3246120"/>
            <a:ext cx="548640" cy="548640"/>
          </a:xfrm>
          <a:prstGeom prst="rect">
            <a:avLst/>
          </a:prstGeom>
        </p:spPr>
      </p:pic>
      <p:sp>
        <p:nvSpPr>
          <p:cNvPr id="10" name="Text 5"/>
          <p:cNvSpPr/>
          <p:nvPr/>
        </p:nvSpPr>
        <p:spPr>
          <a:xfrm>
            <a:off x="6492240" y="4206240"/>
            <a:ext cx="2194560" cy="365760"/>
          </a:xfrm>
          <a:prstGeom prst="rect">
            <a:avLst/>
          </a:prstGeom>
          <a:noFill/>
          <a:ln/>
        </p:spPr>
        <p:txBody>
          <a:bodyPr wrap="square" rtlCol="0" anchor="ctr"/>
          <a:lstStyle/>
          <a:p>
            <a:pPr marL="0" indent="0" algn="ctr">
              <a:buNone/>
            </a:pPr>
            <a:r>
              <a:rPr lang="en-US" sz="1250" b="1" dirty="0">
                <a:solidFill>
                  <a:srgbClr val="111827"/>
                </a:solidFill>
                <a:latin typeface="Verdana" panose="020B0604030504040204" pitchFamily="34" charset="0"/>
                <a:ea typeface="Verdana" panose="020B0604030504040204" pitchFamily="34" charset="0"/>
                <a:cs typeface="Calibri" pitchFamily="34" charset="-120"/>
              </a:rPr>
              <a:t>Connection drops</a:t>
            </a:r>
            <a:endParaRPr lang="en-US" sz="1250" dirty="0">
              <a:latin typeface="Verdana" panose="020B0604030504040204" pitchFamily="34" charset="0"/>
              <a:ea typeface="Verdana" panose="020B0604030504040204" pitchFamily="34" charset="0"/>
            </a:endParaRPr>
          </a:p>
        </p:txBody>
      </p:sp>
      <p:sp>
        <p:nvSpPr>
          <p:cNvPr id="11" name="Text 6"/>
          <p:cNvSpPr/>
          <p:nvPr/>
        </p:nvSpPr>
        <p:spPr>
          <a:xfrm>
            <a:off x="9189720" y="4206240"/>
            <a:ext cx="2194560" cy="365760"/>
          </a:xfrm>
          <a:prstGeom prst="rect">
            <a:avLst/>
          </a:prstGeom>
          <a:noFill/>
          <a:ln/>
        </p:spPr>
        <p:txBody>
          <a:bodyPr wrap="square" rtlCol="0" anchor="ctr"/>
          <a:lstStyle/>
          <a:p>
            <a:pPr marL="0" indent="0" algn="ctr">
              <a:buNone/>
            </a:pPr>
            <a:r>
              <a:rPr lang="en-US" sz="1250" b="1" dirty="0">
                <a:solidFill>
                  <a:srgbClr val="111827"/>
                </a:solidFill>
                <a:latin typeface="Verdana" panose="020B0604030504040204" pitchFamily="34" charset="0"/>
                <a:ea typeface="Verdana" panose="020B0604030504040204" pitchFamily="34" charset="0"/>
                <a:cs typeface="Calibri" pitchFamily="34" charset="-120"/>
              </a:rPr>
              <a:t>Sale still goes through</a:t>
            </a:r>
            <a:endParaRPr lang="en-US" sz="1250" dirty="0">
              <a:latin typeface="Verdana" panose="020B0604030504040204" pitchFamily="34" charset="0"/>
              <a:ea typeface="Verdana" panose="020B0604030504040204" pitchFamily="34" charset="0"/>
            </a:endParaRPr>
          </a:p>
        </p:txBody>
      </p:sp>
      <p:sp>
        <p:nvSpPr>
          <p:cNvPr id="12" name="Text 7"/>
          <p:cNvSpPr/>
          <p:nvPr/>
        </p:nvSpPr>
        <p:spPr>
          <a:xfrm>
            <a:off x="6675120" y="4800600"/>
            <a:ext cx="4526280" cy="457200"/>
          </a:xfrm>
          <a:prstGeom prst="rect">
            <a:avLst/>
          </a:prstGeom>
          <a:noFill/>
          <a:ln/>
        </p:spPr>
        <p:txBody>
          <a:bodyPr wrap="square" rtlCol="0" anchor="ctr"/>
          <a:lstStyle/>
          <a:p>
            <a:pPr marL="0" indent="0" algn="ctr">
              <a:buNone/>
            </a:pPr>
            <a:r>
              <a:rPr lang="en-US" sz="1200" i="1" dirty="0">
                <a:solidFill>
                  <a:srgbClr val="6B7280"/>
                </a:solidFill>
                <a:latin typeface="Verdana" panose="020B0604030504040204" pitchFamily="34" charset="0"/>
                <a:ea typeface="Verdana" panose="020B0604030504040204" pitchFamily="34" charset="0"/>
                <a:cs typeface="Calibri" pitchFamily="34" charset="-120"/>
              </a:rPr>
              <a:t>The cashier never sees a difference on screen.</a:t>
            </a:r>
            <a:endParaRPr lang="en-US" sz="1200" dirty="0">
              <a:latin typeface="Verdana" panose="020B0604030504040204" pitchFamily="34" charset="0"/>
              <a:ea typeface="Verdana" panose="020B0604030504040204" pitchFamily="34" charset="0"/>
            </a:endParaRPr>
          </a:p>
        </p:txBody>
      </p:sp>
      <p:sp>
        <p:nvSpPr>
          <p:cNvPr id="13" name="Text 8"/>
          <p:cNvSpPr/>
          <p:nvPr/>
        </p:nvSpPr>
        <p:spPr>
          <a:xfrm>
            <a:off x="640080" y="6400800"/>
            <a:ext cx="4572000" cy="274320"/>
          </a:xfrm>
          <a:prstGeom prst="rect">
            <a:avLst/>
          </a:prstGeom>
          <a:noFill/>
          <a:ln/>
        </p:spPr>
        <p:txBody>
          <a:bodyPr wrap="square" rtlCol="0" anchor="ctr"/>
          <a:lstStyle/>
          <a:p>
            <a:pPr marL="0" indent="0">
              <a:buNone/>
            </a:pPr>
            <a:r>
              <a:rPr lang="en-US" sz="900" kern="0" spc="100" dirty="0">
                <a:solidFill>
                  <a:srgbClr val="6B7280"/>
                </a:solidFill>
                <a:latin typeface="Verdana" panose="020B0604030504040204" pitchFamily="34" charset="0"/>
                <a:ea typeface="Verdana" panose="020B0604030504040204" pitchFamily="34" charset="0"/>
                <a:cs typeface="Calibri" pitchFamily="34" charset="-120"/>
              </a:rPr>
              <a:t>CAIDIC HARDWARE POS</a:t>
            </a:r>
            <a:endParaRPr lang="en-US" sz="900" dirty="0">
              <a:latin typeface="Verdana" panose="020B0604030504040204" pitchFamily="34" charset="0"/>
              <a:ea typeface="Verdana" panose="020B0604030504040204" pitchFamily="34" charset="0"/>
            </a:endParaRPr>
          </a:p>
        </p:txBody>
      </p:sp>
      <p:sp>
        <p:nvSpPr>
          <p:cNvPr id="14" name="Text 9"/>
          <p:cNvSpPr/>
          <p:nvPr/>
        </p:nvSpPr>
        <p:spPr>
          <a:xfrm>
            <a:off x="11002975" y="6400800"/>
            <a:ext cx="548640" cy="274320"/>
          </a:xfrm>
          <a:prstGeom prst="rect">
            <a:avLst/>
          </a:prstGeom>
          <a:noFill/>
          <a:ln/>
        </p:spPr>
        <p:txBody>
          <a:bodyPr wrap="square" rtlCol="0" anchor="ctr"/>
          <a:lstStyle/>
          <a:p>
            <a:pPr marL="0" indent="0" algn="r">
              <a:buNone/>
            </a:pPr>
            <a:r>
              <a:rPr lang="en-US" sz="900" dirty="0">
                <a:solidFill>
                  <a:srgbClr val="6B7280"/>
                </a:solidFill>
                <a:latin typeface="Verdana" panose="020B0604030504040204" pitchFamily="34" charset="0"/>
                <a:ea typeface="Verdana" panose="020B0604030504040204" pitchFamily="34" charset="0"/>
                <a:cs typeface="Calibri" pitchFamily="34" charset="-120"/>
              </a:rPr>
              <a:t>5</a:t>
            </a:r>
            <a:endParaRPr lang="en-US" sz="900" dirty="0">
              <a:latin typeface="Verdana" panose="020B0604030504040204" pitchFamily="34" charset="0"/>
              <a:ea typeface="Verdana" panose="020B060403050404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3F6"/>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731520"/>
          </a:xfrm>
          <a:prstGeom prst="rect">
            <a:avLst/>
          </a:prstGeom>
          <a:noFill/>
          <a:ln/>
        </p:spPr>
        <p:txBody>
          <a:bodyPr wrap="square" rtlCol="0" anchor="ctr"/>
          <a:lstStyle/>
          <a:p>
            <a:pPr marL="0" indent="0">
              <a:buNone/>
            </a:pPr>
            <a:r>
              <a:rPr lang="en-US" sz="3200" b="1" dirty="0">
                <a:solidFill>
                  <a:srgbClr val="0F1B2E"/>
                </a:solidFill>
                <a:latin typeface="Verdana" panose="020B0604030504040204" pitchFamily="34" charset="0"/>
                <a:ea typeface="Verdana" panose="020B0604030504040204" pitchFamily="34" charset="0"/>
                <a:cs typeface="Cambria" pitchFamily="34" charset="-120"/>
              </a:rPr>
              <a:t>2. Fast, Simple Staff Login</a:t>
            </a:r>
            <a:endParaRPr lang="en-US" sz="3200" dirty="0">
              <a:latin typeface="Verdana" panose="020B0604030504040204" pitchFamily="34" charset="0"/>
              <a:ea typeface="Verdana" panose="020B0604030504040204" pitchFamily="34" charset="0"/>
            </a:endParaRPr>
          </a:p>
        </p:txBody>
      </p:sp>
      <p:sp>
        <p:nvSpPr>
          <p:cNvPr id="3" name="Shape 1"/>
          <p:cNvSpPr/>
          <p:nvPr/>
        </p:nvSpPr>
        <p:spPr>
          <a:xfrm>
            <a:off x="640080" y="1965960"/>
            <a:ext cx="822960" cy="822960"/>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pic>
        <p:nvPicPr>
          <p:cNvPr id="4" name="Image 0" descr="/home/claude/pos-meeting/icons/key_blue.png"/>
          <p:cNvPicPr>
            <a:picLocks noChangeAspect="1"/>
          </p:cNvPicPr>
          <p:nvPr/>
        </p:nvPicPr>
        <p:blipFill>
          <a:blip r:embed="rId3"/>
          <a:stretch>
            <a:fillRect/>
          </a:stretch>
        </p:blipFill>
        <p:spPr>
          <a:xfrm>
            <a:off x="854050" y="2179930"/>
            <a:ext cx="395021" cy="395021"/>
          </a:xfrm>
          <a:prstGeom prst="rect">
            <a:avLst/>
          </a:prstGeom>
        </p:spPr>
      </p:pic>
      <p:sp>
        <p:nvSpPr>
          <p:cNvPr id="5" name="Text 2"/>
          <p:cNvSpPr/>
          <p:nvPr/>
        </p:nvSpPr>
        <p:spPr>
          <a:xfrm>
            <a:off x="640080" y="2971800"/>
            <a:ext cx="5029200" cy="2011680"/>
          </a:xfrm>
          <a:prstGeom prst="rect">
            <a:avLst/>
          </a:prstGeom>
          <a:noFill/>
          <a:ln/>
        </p:spPr>
        <p:txBody>
          <a:bodyPr wrap="square" rtlCol="0" anchor="t"/>
          <a:lstStyle/>
          <a:p>
            <a:pPr marL="0" indent="0">
              <a:lnSpc>
                <a:spcPct val="135000"/>
              </a:lnSpc>
              <a:buNone/>
            </a:pPr>
            <a:r>
              <a:rPr lang="en-US" sz="1550" dirty="0">
                <a:solidFill>
                  <a:srgbClr val="6B7280"/>
                </a:solidFill>
                <a:latin typeface="Verdana" panose="020B0604030504040204" pitchFamily="34" charset="0"/>
                <a:ea typeface="Verdana" panose="020B0604030504040204" pitchFamily="34" charset="0"/>
                <a:cs typeface="Calibri" pitchFamily="34" charset="-120"/>
              </a:rPr>
              <a:t>Staff tap their name, then enter a 6-digit code. No usernames or passwords to remember switching cashiers takes seconds.</a:t>
            </a:r>
            <a:endParaRPr lang="en-US" sz="1550" dirty="0">
              <a:latin typeface="Verdana" panose="020B0604030504040204" pitchFamily="34" charset="0"/>
              <a:ea typeface="Verdana" panose="020B0604030504040204" pitchFamily="34" charset="0"/>
            </a:endParaRPr>
          </a:p>
        </p:txBody>
      </p:sp>
      <p:sp>
        <p:nvSpPr>
          <p:cNvPr id="6" name="Shape 3"/>
          <p:cNvSpPr/>
          <p:nvPr/>
        </p:nvSpPr>
        <p:spPr>
          <a:xfrm>
            <a:off x="6309360" y="1965960"/>
            <a:ext cx="2514600" cy="3611880"/>
          </a:xfrm>
          <a:prstGeom prst="roundRect">
            <a:avLst>
              <a:gd name="adj" fmla="val 4364"/>
            </a:avLst>
          </a:prstGeom>
          <a:solidFill>
            <a:srgbClr val="FFFFFF"/>
          </a:solidFill>
          <a:ln/>
          <a:effectLst>
            <a:outerShdw blurRad="114300" dist="38100" dir="5400000" algn="bl" rotWithShape="0">
              <a:srgbClr val="0F1B2E">
                <a:alpha val="14000"/>
              </a:srgbClr>
            </a:outerShdw>
          </a:effectLst>
        </p:spPr>
        <p:txBody>
          <a:bodyPr/>
          <a:lstStyle/>
          <a:p>
            <a:endParaRPr lang="en-PH">
              <a:latin typeface="Verdana" panose="020B0604030504040204" pitchFamily="34" charset="0"/>
              <a:ea typeface="Verdana" panose="020B0604030504040204" pitchFamily="34" charset="0"/>
            </a:endParaRPr>
          </a:p>
        </p:txBody>
      </p:sp>
      <p:sp>
        <p:nvSpPr>
          <p:cNvPr id="7" name="Text 4"/>
          <p:cNvSpPr/>
          <p:nvPr/>
        </p:nvSpPr>
        <p:spPr>
          <a:xfrm>
            <a:off x="6537960" y="2240280"/>
            <a:ext cx="2057400" cy="411480"/>
          </a:xfrm>
          <a:prstGeom prst="rect">
            <a:avLst/>
          </a:prstGeom>
          <a:noFill/>
          <a:ln/>
        </p:spPr>
        <p:txBody>
          <a:bodyPr wrap="square" rtlCol="0" anchor="ctr"/>
          <a:lstStyle/>
          <a:p>
            <a:pPr marL="0" indent="0">
              <a:buNone/>
            </a:pPr>
            <a:r>
              <a:rPr lang="en-US" sz="1500" b="1" dirty="0">
                <a:solidFill>
                  <a:srgbClr val="0F1B2E"/>
                </a:solidFill>
                <a:latin typeface="Verdana" panose="020B0604030504040204" pitchFamily="34" charset="0"/>
                <a:ea typeface="Verdana" panose="020B0604030504040204" pitchFamily="34" charset="0"/>
                <a:cs typeface="Cambria" pitchFamily="34" charset="-120"/>
              </a:rPr>
              <a:t>Cashiers see</a:t>
            </a:r>
            <a:endParaRPr lang="en-US" sz="1500" dirty="0">
              <a:latin typeface="Verdana" panose="020B0604030504040204" pitchFamily="34" charset="0"/>
              <a:ea typeface="Verdana" panose="020B0604030504040204" pitchFamily="34" charset="0"/>
            </a:endParaRPr>
          </a:p>
        </p:txBody>
      </p:sp>
      <p:sp>
        <p:nvSpPr>
          <p:cNvPr id="8" name="Text 5"/>
          <p:cNvSpPr/>
          <p:nvPr/>
        </p:nvSpPr>
        <p:spPr>
          <a:xfrm>
            <a:off x="6537960" y="2834640"/>
            <a:ext cx="2057400" cy="2468880"/>
          </a:xfrm>
          <a:prstGeom prst="rect">
            <a:avLst/>
          </a:prstGeom>
          <a:noFill/>
          <a:ln/>
        </p:spPr>
        <p:txBody>
          <a:bodyPr wrap="square" rtlCol="0" anchor="t"/>
          <a:lstStyle/>
          <a:p>
            <a:pPr marL="0" indent="0">
              <a:lnSpc>
                <a:spcPct val="170000"/>
              </a:lnSpc>
              <a:buNone/>
            </a:pPr>
            <a:r>
              <a:rPr lang="en-US" sz="1350" dirty="0">
                <a:solidFill>
                  <a:srgbClr val="111827"/>
                </a:solidFill>
                <a:latin typeface="Verdana" panose="020B0604030504040204" pitchFamily="34" charset="0"/>
                <a:ea typeface="Verdana" panose="020B0604030504040204" pitchFamily="34" charset="0"/>
                <a:cs typeface="Calibri" pitchFamily="34" charset="-120"/>
              </a:rPr>
              <a:t>✓  Checkout</a:t>
            </a:r>
            <a:endParaRPr lang="en-US" sz="1350" dirty="0">
              <a:latin typeface="Verdana" panose="020B0604030504040204" pitchFamily="34" charset="0"/>
              <a:ea typeface="Verdana" panose="020B0604030504040204" pitchFamily="34" charset="0"/>
            </a:endParaRPr>
          </a:p>
          <a:p>
            <a:pPr marL="0" indent="0">
              <a:lnSpc>
                <a:spcPct val="170000"/>
              </a:lnSpc>
              <a:buNone/>
            </a:pPr>
            <a:r>
              <a:rPr lang="en-US" sz="1350" dirty="0">
                <a:solidFill>
                  <a:srgbClr val="111827"/>
                </a:solidFill>
                <a:latin typeface="Verdana" panose="020B0604030504040204" pitchFamily="34" charset="0"/>
                <a:ea typeface="Verdana" panose="020B0604030504040204" pitchFamily="34" charset="0"/>
                <a:cs typeface="Calibri" pitchFamily="34" charset="-120"/>
              </a:rPr>
              <a:t>✓  Inventory</a:t>
            </a:r>
            <a:endParaRPr lang="en-US" sz="1350" dirty="0">
              <a:latin typeface="Verdana" panose="020B0604030504040204" pitchFamily="34" charset="0"/>
              <a:ea typeface="Verdana" panose="020B0604030504040204" pitchFamily="34" charset="0"/>
            </a:endParaRPr>
          </a:p>
        </p:txBody>
      </p:sp>
      <p:sp>
        <p:nvSpPr>
          <p:cNvPr id="9" name="Shape 6"/>
          <p:cNvSpPr/>
          <p:nvPr/>
        </p:nvSpPr>
        <p:spPr>
          <a:xfrm>
            <a:off x="9098280" y="1965960"/>
            <a:ext cx="2514600" cy="3611880"/>
          </a:xfrm>
          <a:prstGeom prst="roundRect">
            <a:avLst>
              <a:gd name="adj" fmla="val 4364"/>
            </a:avLst>
          </a:prstGeom>
          <a:solidFill>
            <a:srgbClr val="0F1B2E"/>
          </a:solidFill>
          <a:ln/>
          <a:effectLst>
            <a:outerShdw blurRad="114300" dist="38100" dir="5400000" algn="bl" rotWithShape="0">
              <a:srgbClr val="0F1B2E">
                <a:alpha val="14000"/>
              </a:srgbClr>
            </a:outerShdw>
          </a:effectLst>
        </p:spPr>
        <p:txBody>
          <a:bodyPr/>
          <a:lstStyle/>
          <a:p>
            <a:endParaRPr lang="en-PH">
              <a:latin typeface="Verdana" panose="020B0604030504040204" pitchFamily="34" charset="0"/>
              <a:ea typeface="Verdana" panose="020B0604030504040204" pitchFamily="34" charset="0"/>
            </a:endParaRPr>
          </a:p>
        </p:txBody>
      </p:sp>
      <p:sp>
        <p:nvSpPr>
          <p:cNvPr id="10" name="Text 7"/>
          <p:cNvSpPr/>
          <p:nvPr/>
        </p:nvSpPr>
        <p:spPr>
          <a:xfrm>
            <a:off x="9326880" y="2240280"/>
            <a:ext cx="2057400" cy="411480"/>
          </a:xfrm>
          <a:prstGeom prst="rect">
            <a:avLst/>
          </a:prstGeom>
          <a:noFill/>
          <a:ln/>
        </p:spPr>
        <p:txBody>
          <a:bodyPr wrap="square" rtlCol="0" anchor="ctr"/>
          <a:lstStyle/>
          <a:p>
            <a:pPr marL="0" indent="0">
              <a:buNone/>
            </a:pPr>
            <a:r>
              <a:rPr lang="en-US" sz="1500" b="1" dirty="0">
                <a:solidFill>
                  <a:srgbClr val="FFFFFF"/>
                </a:solidFill>
                <a:latin typeface="Verdana" panose="020B0604030504040204" pitchFamily="34" charset="0"/>
                <a:ea typeface="Verdana" panose="020B0604030504040204" pitchFamily="34" charset="0"/>
                <a:cs typeface="Cambria" pitchFamily="34" charset="-120"/>
              </a:rPr>
              <a:t>Owners see</a:t>
            </a:r>
            <a:endParaRPr lang="en-US" sz="1500" dirty="0">
              <a:latin typeface="Verdana" panose="020B0604030504040204" pitchFamily="34" charset="0"/>
              <a:ea typeface="Verdana" panose="020B0604030504040204" pitchFamily="34" charset="0"/>
            </a:endParaRPr>
          </a:p>
        </p:txBody>
      </p:sp>
      <p:sp>
        <p:nvSpPr>
          <p:cNvPr id="11" name="Text 8"/>
          <p:cNvSpPr/>
          <p:nvPr/>
        </p:nvSpPr>
        <p:spPr>
          <a:xfrm>
            <a:off x="9326880" y="2834640"/>
            <a:ext cx="2057400" cy="2468880"/>
          </a:xfrm>
          <a:prstGeom prst="rect">
            <a:avLst/>
          </a:prstGeom>
          <a:noFill/>
          <a:ln/>
        </p:spPr>
        <p:txBody>
          <a:bodyPr wrap="square" rtlCol="0" anchor="t"/>
          <a:lstStyle/>
          <a:p>
            <a:pPr marL="0" indent="0">
              <a:lnSpc>
                <a:spcPct val="170000"/>
              </a:lnSpc>
              <a:buNone/>
            </a:pPr>
            <a:r>
              <a:rPr lang="en-US" sz="1350" dirty="0">
                <a:solidFill>
                  <a:srgbClr val="CADCFC"/>
                </a:solidFill>
                <a:latin typeface="Verdana" panose="020B0604030504040204" pitchFamily="34" charset="0"/>
                <a:ea typeface="Verdana" panose="020B0604030504040204" pitchFamily="34" charset="0"/>
                <a:cs typeface="Calibri" pitchFamily="34" charset="-120"/>
              </a:rPr>
              <a:t>✓  Checkout</a:t>
            </a:r>
            <a:endParaRPr lang="en-US" sz="1350" dirty="0">
              <a:latin typeface="Verdana" panose="020B0604030504040204" pitchFamily="34" charset="0"/>
              <a:ea typeface="Verdana" panose="020B0604030504040204" pitchFamily="34" charset="0"/>
            </a:endParaRPr>
          </a:p>
          <a:p>
            <a:pPr marL="0" indent="0">
              <a:lnSpc>
                <a:spcPct val="170000"/>
              </a:lnSpc>
              <a:buNone/>
            </a:pPr>
            <a:r>
              <a:rPr lang="en-US" sz="1350" dirty="0">
                <a:solidFill>
                  <a:srgbClr val="CADCFC"/>
                </a:solidFill>
                <a:latin typeface="Verdana" panose="020B0604030504040204" pitchFamily="34" charset="0"/>
                <a:ea typeface="Verdana" panose="020B0604030504040204" pitchFamily="34" charset="0"/>
                <a:cs typeface="Calibri" pitchFamily="34" charset="-120"/>
              </a:rPr>
              <a:t>✓  Inventory</a:t>
            </a:r>
            <a:endParaRPr lang="en-US" sz="1350" dirty="0">
              <a:latin typeface="Verdana" panose="020B0604030504040204" pitchFamily="34" charset="0"/>
              <a:ea typeface="Verdana" panose="020B0604030504040204" pitchFamily="34" charset="0"/>
            </a:endParaRPr>
          </a:p>
          <a:p>
            <a:pPr marL="0" indent="0">
              <a:lnSpc>
                <a:spcPct val="170000"/>
              </a:lnSpc>
              <a:buNone/>
            </a:pPr>
            <a:r>
              <a:rPr lang="en-US" sz="1350" dirty="0">
                <a:solidFill>
                  <a:srgbClr val="CADCFC"/>
                </a:solidFill>
                <a:latin typeface="Verdana" panose="020B0604030504040204" pitchFamily="34" charset="0"/>
                <a:ea typeface="Verdana" panose="020B0604030504040204" pitchFamily="34" charset="0"/>
                <a:cs typeface="Calibri" pitchFamily="34" charset="-120"/>
              </a:rPr>
              <a:t>✓  Staff Accounts</a:t>
            </a:r>
            <a:endParaRPr lang="en-US" sz="1350" dirty="0">
              <a:latin typeface="Verdana" panose="020B0604030504040204" pitchFamily="34" charset="0"/>
              <a:ea typeface="Verdana" panose="020B0604030504040204" pitchFamily="34" charset="0"/>
            </a:endParaRPr>
          </a:p>
        </p:txBody>
      </p:sp>
      <p:sp>
        <p:nvSpPr>
          <p:cNvPr id="12" name="Text 9"/>
          <p:cNvSpPr/>
          <p:nvPr/>
        </p:nvSpPr>
        <p:spPr>
          <a:xfrm>
            <a:off x="640080" y="6400800"/>
            <a:ext cx="4572000" cy="274320"/>
          </a:xfrm>
          <a:prstGeom prst="rect">
            <a:avLst/>
          </a:prstGeom>
          <a:noFill/>
          <a:ln/>
        </p:spPr>
        <p:txBody>
          <a:bodyPr wrap="square" rtlCol="0" anchor="ctr"/>
          <a:lstStyle/>
          <a:p>
            <a:pPr marL="0" indent="0">
              <a:buNone/>
            </a:pPr>
            <a:r>
              <a:rPr lang="en-US" sz="900" kern="0" spc="100" dirty="0">
                <a:solidFill>
                  <a:srgbClr val="6B7280"/>
                </a:solidFill>
                <a:latin typeface="Verdana" panose="020B0604030504040204" pitchFamily="34" charset="0"/>
                <a:ea typeface="Verdana" panose="020B0604030504040204" pitchFamily="34" charset="0"/>
                <a:cs typeface="Calibri" pitchFamily="34" charset="-120"/>
              </a:rPr>
              <a:t>CAIDIC HARDWARE POS</a:t>
            </a:r>
            <a:endParaRPr lang="en-US" sz="900" dirty="0">
              <a:latin typeface="Verdana" panose="020B0604030504040204" pitchFamily="34" charset="0"/>
              <a:ea typeface="Verdana" panose="020B0604030504040204" pitchFamily="34" charset="0"/>
            </a:endParaRPr>
          </a:p>
        </p:txBody>
      </p:sp>
      <p:sp>
        <p:nvSpPr>
          <p:cNvPr id="13" name="Text 10"/>
          <p:cNvSpPr/>
          <p:nvPr/>
        </p:nvSpPr>
        <p:spPr>
          <a:xfrm>
            <a:off x="11002975" y="6400800"/>
            <a:ext cx="548640" cy="274320"/>
          </a:xfrm>
          <a:prstGeom prst="rect">
            <a:avLst/>
          </a:prstGeom>
          <a:noFill/>
          <a:ln/>
        </p:spPr>
        <p:txBody>
          <a:bodyPr wrap="square" rtlCol="0" anchor="ctr"/>
          <a:lstStyle/>
          <a:p>
            <a:pPr marL="0" indent="0" algn="r">
              <a:buNone/>
            </a:pPr>
            <a:r>
              <a:rPr lang="en-US" sz="900" dirty="0">
                <a:solidFill>
                  <a:srgbClr val="6B7280"/>
                </a:solidFill>
                <a:latin typeface="Verdana" panose="020B0604030504040204" pitchFamily="34" charset="0"/>
                <a:ea typeface="Verdana" panose="020B0604030504040204" pitchFamily="34" charset="0"/>
                <a:cs typeface="Calibri" pitchFamily="34" charset="-120"/>
              </a:rPr>
              <a:t>6</a:t>
            </a:r>
            <a:endParaRPr lang="en-US" sz="900" dirty="0">
              <a:latin typeface="Verdana" panose="020B0604030504040204" pitchFamily="34" charset="0"/>
              <a:ea typeface="Verdana" panose="020B060403050404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3F6"/>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731520"/>
          </a:xfrm>
          <a:prstGeom prst="rect">
            <a:avLst/>
          </a:prstGeom>
          <a:noFill/>
          <a:ln/>
        </p:spPr>
        <p:txBody>
          <a:bodyPr wrap="square" rtlCol="0" anchor="ctr"/>
          <a:lstStyle/>
          <a:p>
            <a:pPr marL="0" indent="0">
              <a:buNone/>
            </a:pPr>
            <a:r>
              <a:rPr lang="en-US" sz="3200" b="1" dirty="0">
                <a:solidFill>
                  <a:srgbClr val="0F1B2E"/>
                </a:solidFill>
                <a:latin typeface="Verdana" panose="020B0604030504040204" pitchFamily="34" charset="0"/>
                <a:ea typeface="Verdana" panose="020B0604030504040204" pitchFamily="34" charset="0"/>
                <a:cs typeface="Cambria" pitchFamily="34" charset="-120"/>
              </a:rPr>
              <a:t>3. Stock Updates Itself</a:t>
            </a:r>
            <a:endParaRPr lang="en-US" sz="3200" dirty="0">
              <a:latin typeface="Verdana" panose="020B0604030504040204" pitchFamily="34" charset="0"/>
              <a:ea typeface="Verdana" panose="020B0604030504040204" pitchFamily="34" charset="0"/>
            </a:endParaRPr>
          </a:p>
        </p:txBody>
      </p:sp>
      <p:sp>
        <p:nvSpPr>
          <p:cNvPr id="3" name="Text 1"/>
          <p:cNvSpPr/>
          <p:nvPr/>
        </p:nvSpPr>
        <p:spPr>
          <a:xfrm>
            <a:off x="640080" y="1188720"/>
            <a:ext cx="10881360" cy="365760"/>
          </a:xfrm>
          <a:prstGeom prst="rect">
            <a:avLst/>
          </a:prstGeom>
          <a:noFill/>
          <a:ln/>
        </p:spPr>
        <p:txBody>
          <a:bodyPr wrap="square" rtlCol="0" anchor="ctr"/>
          <a:lstStyle/>
          <a:p>
            <a:pPr marL="0" indent="0">
              <a:buNone/>
            </a:pPr>
            <a:r>
              <a:rPr lang="en-US" sz="1400" dirty="0">
                <a:solidFill>
                  <a:srgbClr val="6B7280"/>
                </a:solidFill>
                <a:latin typeface="Verdana" panose="020B0604030504040204" pitchFamily="34" charset="0"/>
                <a:ea typeface="Verdana" panose="020B0604030504040204" pitchFamily="34" charset="0"/>
                <a:cs typeface="Calibri" pitchFamily="34" charset="-120"/>
              </a:rPr>
              <a:t>No more recounting shelves by hand just to know what’s left</a:t>
            </a:r>
            <a:endParaRPr lang="en-US" sz="1400" dirty="0">
              <a:latin typeface="Verdana" panose="020B0604030504040204" pitchFamily="34" charset="0"/>
              <a:ea typeface="Verdana" panose="020B0604030504040204" pitchFamily="34" charset="0"/>
            </a:endParaRPr>
          </a:p>
        </p:txBody>
      </p:sp>
      <p:sp>
        <p:nvSpPr>
          <p:cNvPr id="4" name="Shape 2"/>
          <p:cNvSpPr/>
          <p:nvPr/>
        </p:nvSpPr>
        <p:spPr>
          <a:xfrm>
            <a:off x="640080" y="2331720"/>
            <a:ext cx="3429000" cy="3291840"/>
          </a:xfrm>
          <a:prstGeom prst="roundRect">
            <a:avLst>
              <a:gd name="adj" fmla="val 3333"/>
            </a:avLst>
          </a:prstGeom>
          <a:solidFill>
            <a:srgbClr val="FFFFFF"/>
          </a:solidFill>
          <a:ln/>
          <a:effectLst>
            <a:outerShdw blurRad="114300" dist="38100" dir="5400000" algn="bl" rotWithShape="0">
              <a:srgbClr val="0F1B2E">
                <a:alpha val="14000"/>
              </a:srgbClr>
            </a:outerShdw>
          </a:effectLst>
        </p:spPr>
        <p:txBody>
          <a:bodyPr/>
          <a:lstStyle/>
          <a:p>
            <a:endParaRPr lang="en-PH">
              <a:latin typeface="Verdana" panose="020B0604030504040204" pitchFamily="34" charset="0"/>
              <a:ea typeface="Verdana" panose="020B0604030504040204" pitchFamily="34" charset="0"/>
            </a:endParaRPr>
          </a:p>
        </p:txBody>
      </p:sp>
      <p:sp>
        <p:nvSpPr>
          <p:cNvPr id="5" name="Shape 3"/>
          <p:cNvSpPr/>
          <p:nvPr/>
        </p:nvSpPr>
        <p:spPr>
          <a:xfrm>
            <a:off x="960120" y="2075688"/>
            <a:ext cx="512064" cy="512064"/>
          </a:xfrm>
          <a:prstGeom prst="ellipse">
            <a:avLst/>
          </a:prstGeom>
          <a:solidFill>
            <a:srgbClr val="0F1B2E"/>
          </a:solidFill>
          <a:ln/>
        </p:spPr>
        <p:txBody>
          <a:bodyPr/>
          <a:lstStyle/>
          <a:p>
            <a:endParaRPr lang="en-PH">
              <a:latin typeface="Verdana" panose="020B0604030504040204" pitchFamily="34" charset="0"/>
              <a:ea typeface="Verdana" panose="020B0604030504040204" pitchFamily="34" charset="0"/>
            </a:endParaRPr>
          </a:p>
        </p:txBody>
      </p:sp>
      <p:sp>
        <p:nvSpPr>
          <p:cNvPr id="6" name="Text 4"/>
          <p:cNvSpPr/>
          <p:nvPr/>
        </p:nvSpPr>
        <p:spPr>
          <a:xfrm>
            <a:off x="960120" y="2075688"/>
            <a:ext cx="512064" cy="512064"/>
          </a:xfrm>
          <a:prstGeom prst="rect">
            <a:avLst/>
          </a:prstGeom>
          <a:noFill/>
          <a:ln/>
        </p:spPr>
        <p:txBody>
          <a:bodyPr wrap="square" rtlCol="0" anchor="ctr"/>
          <a:lstStyle/>
          <a:p>
            <a:pPr marL="0" indent="0" algn="ctr">
              <a:buNone/>
            </a:pPr>
            <a:r>
              <a:rPr lang="en-US" sz="1900" b="1" dirty="0">
                <a:solidFill>
                  <a:srgbClr val="FFFFFF"/>
                </a:solidFill>
                <a:latin typeface="Verdana" panose="020B0604030504040204" pitchFamily="34" charset="0"/>
                <a:ea typeface="Verdana" panose="020B0604030504040204" pitchFamily="34" charset="0"/>
                <a:cs typeface="Cambria" pitchFamily="34" charset="-120"/>
              </a:rPr>
              <a:t>1</a:t>
            </a:r>
            <a:endParaRPr lang="en-US" sz="1900" dirty="0">
              <a:latin typeface="Verdana" panose="020B0604030504040204" pitchFamily="34" charset="0"/>
              <a:ea typeface="Verdana" panose="020B0604030504040204" pitchFamily="34" charset="0"/>
            </a:endParaRPr>
          </a:p>
        </p:txBody>
      </p:sp>
      <p:sp>
        <p:nvSpPr>
          <p:cNvPr id="7" name="Shape 5"/>
          <p:cNvSpPr/>
          <p:nvPr/>
        </p:nvSpPr>
        <p:spPr>
          <a:xfrm>
            <a:off x="960120" y="2697480"/>
            <a:ext cx="731520" cy="731520"/>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pic>
        <p:nvPicPr>
          <p:cNvPr id="8" name="Image 0" descr="/home/claude/pos-meeting/icons/cart_blue.png"/>
          <p:cNvPicPr>
            <a:picLocks noChangeAspect="1"/>
          </p:cNvPicPr>
          <p:nvPr/>
        </p:nvPicPr>
        <p:blipFill>
          <a:blip r:embed="rId3"/>
          <a:stretch>
            <a:fillRect/>
          </a:stretch>
        </p:blipFill>
        <p:spPr>
          <a:xfrm>
            <a:off x="1150315" y="2887675"/>
            <a:ext cx="351130" cy="351130"/>
          </a:xfrm>
          <a:prstGeom prst="rect">
            <a:avLst/>
          </a:prstGeom>
        </p:spPr>
      </p:pic>
      <p:sp>
        <p:nvSpPr>
          <p:cNvPr id="9" name="Text 6"/>
          <p:cNvSpPr/>
          <p:nvPr/>
        </p:nvSpPr>
        <p:spPr>
          <a:xfrm>
            <a:off x="960120" y="3611880"/>
            <a:ext cx="2788920" cy="640080"/>
          </a:xfrm>
          <a:prstGeom prst="rect">
            <a:avLst/>
          </a:prstGeom>
          <a:noFill/>
          <a:ln/>
        </p:spPr>
        <p:txBody>
          <a:bodyPr wrap="square" rtlCol="0" anchor="t"/>
          <a:lstStyle/>
          <a:p>
            <a:pPr marL="0" indent="0">
              <a:buNone/>
            </a:pPr>
            <a:r>
              <a:rPr lang="en-US" sz="1550" b="1" dirty="0">
                <a:solidFill>
                  <a:srgbClr val="0F1B2E"/>
                </a:solidFill>
                <a:latin typeface="Verdana" panose="020B0604030504040204" pitchFamily="34" charset="0"/>
                <a:ea typeface="Verdana" panose="020B0604030504040204" pitchFamily="34" charset="0"/>
                <a:cs typeface="Cambria" pitchFamily="34" charset="-120"/>
              </a:rPr>
              <a:t>A sale is made</a:t>
            </a:r>
            <a:endParaRPr lang="en-US" sz="1550" dirty="0">
              <a:latin typeface="Verdana" panose="020B0604030504040204" pitchFamily="34" charset="0"/>
              <a:ea typeface="Verdana" panose="020B0604030504040204" pitchFamily="34" charset="0"/>
            </a:endParaRPr>
          </a:p>
        </p:txBody>
      </p:sp>
      <p:sp>
        <p:nvSpPr>
          <p:cNvPr id="10" name="Text 7"/>
          <p:cNvSpPr/>
          <p:nvPr/>
        </p:nvSpPr>
        <p:spPr>
          <a:xfrm>
            <a:off x="960120" y="4297680"/>
            <a:ext cx="2788920" cy="1188720"/>
          </a:xfrm>
          <a:prstGeom prst="rect">
            <a:avLst/>
          </a:prstGeom>
          <a:noFill/>
          <a:ln/>
        </p:spPr>
        <p:txBody>
          <a:bodyPr wrap="square" rtlCol="0" anchor="t"/>
          <a:lstStyle/>
          <a:p>
            <a:pPr marL="0" indent="0">
              <a:lnSpc>
                <a:spcPct val="120000"/>
              </a:lnSpc>
              <a:buNone/>
            </a:pPr>
            <a:r>
              <a:rPr lang="en-US" sz="1250" dirty="0">
                <a:solidFill>
                  <a:srgbClr val="6B7280"/>
                </a:solidFill>
                <a:latin typeface="Verdana" panose="020B0604030504040204" pitchFamily="34" charset="0"/>
                <a:ea typeface="Verdana" panose="020B0604030504040204" pitchFamily="34" charset="0"/>
                <a:cs typeface="Calibri" pitchFamily="34" charset="-120"/>
              </a:rPr>
              <a:t>A cashier scans or selects an item at checkout.</a:t>
            </a:r>
            <a:endParaRPr lang="en-US" sz="1250" dirty="0">
              <a:latin typeface="Verdana" panose="020B0604030504040204" pitchFamily="34" charset="0"/>
              <a:ea typeface="Verdana" panose="020B0604030504040204" pitchFamily="34" charset="0"/>
            </a:endParaRPr>
          </a:p>
        </p:txBody>
      </p:sp>
      <p:pic>
        <p:nvPicPr>
          <p:cNvPr id="11" name="Image 1" descr="/home/claude/pos-meeting/icons/arrowright_navy.png"/>
          <p:cNvPicPr>
            <a:picLocks noChangeAspect="1"/>
          </p:cNvPicPr>
          <p:nvPr/>
        </p:nvPicPr>
        <p:blipFill>
          <a:blip r:embed="rId4"/>
          <a:stretch>
            <a:fillRect/>
          </a:stretch>
        </p:blipFill>
        <p:spPr>
          <a:xfrm>
            <a:off x="4087368" y="3813048"/>
            <a:ext cx="329184" cy="329184"/>
          </a:xfrm>
          <a:prstGeom prst="rect">
            <a:avLst/>
          </a:prstGeom>
        </p:spPr>
      </p:pic>
      <p:sp>
        <p:nvSpPr>
          <p:cNvPr id="12" name="Shape 8"/>
          <p:cNvSpPr/>
          <p:nvPr/>
        </p:nvSpPr>
        <p:spPr>
          <a:xfrm>
            <a:off x="4434840" y="2331720"/>
            <a:ext cx="3429000" cy="3291840"/>
          </a:xfrm>
          <a:prstGeom prst="roundRect">
            <a:avLst>
              <a:gd name="adj" fmla="val 3333"/>
            </a:avLst>
          </a:prstGeom>
          <a:solidFill>
            <a:srgbClr val="FFFFFF"/>
          </a:solidFill>
          <a:ln/>
          <a:effectLst>
            <a:outerShdw blurRad="114300" dist="38100" dir="5400000" algn="bl" rotWithShape="0">
              <a:srgbClr val="0F1B2E">
                <a:alpha val="14000"/>
              </a:srgbClr>
            </a:outerShdw>
          </a:effectLst>
        </p:spPr>
        <p:txBody>
          <a:bodyPr/>
          <a:lstStyle/>
          <a:p>
            <a:endParaRPr lang="en-PH">
              <a:latin typeface="Verdana" panose="020B0604030504040204" pitchFamily="34" charset="0"/>
              <a:ea typeface="Verdana" panose="020B0604030504040204" pitchFamily="34" charset="0"/>
            </a:endParaRPr>
          </a:p>
        </p:txBody>
      </p:sp>
      <p:sp>
        <p:nvSpPr>
          <p:cNvPr id="13" name="Shape 9"/>
          <p:cNvSpPr/>
          <p:nvPr/>
        </p:nvSpPr>
        <p:spPr>
          <a:xfrm>
            <a:off x="4754880" y="2075688"/>
            <a:ext cx="512064" cy="512064"/>
          </a:xfrm>
          <a:prstGeom prst="ellipse">
            <a:avLst/>
          </a:prstGeom>
          <a:solidFill>
            <a:srgbClr val="0F1B2E"/>
          </a:solidFill>
          <a:ln/>
        </p:spPr>
        <p:txBody>
          <a:bodyPr/>
          <a:lstStyle/>
          <a:p>
            <a:endParaRPr lang="en-PH">
              <a:latin typeface="Verdana" panose="020B0604030504040204" pitchFamily="34" charset="0"/>
              <a:ea typeface="Verdana" panose="020B0604030504040204" pitchFamily="34" charset="0"/>
            </a:endParaRPr>
          </a:p>
        </p:txBody>
      </p:sp>
      <p:sp>
        <p:nvSpPr>
          <p:cNvPr id="14" name="Text 10"/>
          <p:cNvSpPr/>
          <p:nvPr/>
        </p:nvSpPr>
        <p:spPr>
          <a:xfrm>
            <a:off x="4754880" y="2075688"/>
            <a:ext cx="512064" cy="512064"/>
          </a:xfrm>
          <a:prstGeom prst="rect">
            <a:avLst/>
          </a:prstGeom>
          <a:noFill/>
          <a:ln/>
        </p:spPr>
        <p:txBody>
          <a:bodyPr wrap="square" rtlCol="0" anchor="ctr"/>
          <a:lstStyle/>
          <a:p>
            <a:pPr marL="0" indent="0" algn="ctr">
              <a:buNone/>
            </a:pPr>
            <a:r>
              <a:rPr lang="en-US" sz="1900" b="1" dirty="0">
                <a:solidFill>
                  <a:srgbClr val="FFFFFF"/>
                </a:solidFill>
                <a:latin typeface="Verdana" panose="020B0604030504040204" pitchFamily="34" charset="0"/>
                <a:ea typeface="Verdana" panose="020B0604030504040204" pitchFamily="34" charset="0"/>
                <a:cs typeface="Cambria" pitchFamily="34" charset="-120"/>
              </a:rPr>
              <a:t>2</a:t>
            </a:r>
            <a:endParaRPr lang="en-US" sz="1900" dirty="0">
              <a:latin typeface="Verdana" panose="020B0604030504040204" pitchFamily="34" charset="0"/>
              <a:ea typeface="Verdana" panose="020B0604030504040204" pitchFamily="34" charset="0"/>
            </a:endParaRPr>
          </a:p>
        </p:txBody>
      </p:sp>
      <p:sp>
        <p:nvSpPr>
          <p:cNvPr id="15" name="Shape 11"/>
          <p:cNvSpPr/>
          <p:nvPr/>
        </p:nvSpPr>
        <p:spPr>
          <a:xfrm>
            <a:off x="4754880" y="2697480"/>
            <a:ext cx="731520" cy="731520"/>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pic>
        <p:nvPicPr>
          <p:cNvPr id="16" name="Image 2" descr="/home/claude/pos-meeting/icons/refresh_blue.png"/>
          <p:cNvPicPr>
            <a:picLocks noChangeAspect="1"/>
          </p:cNvPicPr>
          <p:nvPr/>
        </p:nvPicPr>
        <p:blipFill>
          <a:blip r:embed="rId5"/>
          <a:stretch>
            <a:fillRect/>
          </a:stretch>
        </p:blipFill>
        <p:spPr>
          <a:xfrm>
            <a:off x="4945075" y="2887675"/>
            <a:ext cx="351130" cy="351130"/>
          </a:xfrm>
          <a:prstGeom prst="rect">
            <a:avLst/>
          </a:prstGeom>
        </p:spPr>
      </p:pic>
      <p:sp>
        <p:nvSpPr>
          <p:cNvPr id="17" name="Text 12"/>
          <p:cNvSpPr/>
          <p:nvPr/>
        </p:nvSpPr>
        <p:spPr>
          <a:xfrm>
            <a:off x="4754880" y="3611880"/>
            <a:ext cx="2788920" cy="640080"/>
          </a:xfrm>
          <a:prstGeom prst="rect">
            <a:avLst/>
          </a:prstGeom>
          <a:noFill/>
          <a:ln/>
        </p:spPr>
        <p:txBody>
          <a:bodyPr wrap="square" rtlCol="0" anchor="t"/>
          <a:lstStyle/>
          <a:p>
            <a:pPr marL="0" indent="0">
              <a:buNone/>
            </a:pPr>
            <a:r>
              <a:rPr lang="en-US" sz="1550" b="1" dirty="0">
                <a:solidFill>
                  <a:srgbClr val="0F1B2E"/>
                </a:solidFill>
                <a:latin typeface="Verdana" panose="020B0604030504040204" pitchFamily="34" charset="0"/>
                <a:ea typeface="Verdana" panose="020B0604030504040204" pitchFamily="34" charset="0"/>
                <a:cs typeface="Cambria" pitchFamily="34" charset="-120"/>
              </a:rPr>
              <a:t>Stock updates right away</a:t>
            </a:r>
            <a:endParaRPr lang="en-US" sz="1550" dirty="0">
              <a:latin typeface="Verdana" panose="020B0604030504040204" pitchFamily="34" charset="0"/>
              <a:ea typeface="Verdana" panose="020B0604030504040204" pitchFamily="34" charset="0"/>
            </a:endParaRPr>
          </a:p>
        </p:txBody>
      </p:sp>
      <p:sp>
        <p:nvSpPr>
          <p:cNvPr id="18" name="Text 13"/>
          <p:cNvSpPr/>
          <p:nvPr/>
        </p:nvSpPr>
        <p:spPr>
          <a:xfrm>
            <a:off x="4754880" y="4297680"/>
            <a:ext cx="2788920" cy="1188720"/>
          </a:xfrm>
          <a:prstGeom prst="rect">
            <a:avLst/>
          </a:prstGeom>
          <a:noFill/>
          <a:ln/>
        </p:spPr>
        <p:txBody>
          <a:bodyPr wrap="square" rtlCol="0" anchor="t"/>
          <a:lstStyle/>
          <a:p>
            <a:pPr marL="0" indent="0">
              <a:lnSpc>
                <a:spcPct val="120000"/>
              </a:lnSpc>
              <a:buNone/>
            </a:pPr>
            <a:r>
              <a:rPr lang="en-US" sz="1250" dirty="0">
                <a:solidFill>
                  <a:srgbClr val="6B7280"/>
                </a:solidFill>
                <a:latin typeface="Verdana" panose="020B0604030504040204" pitchFamily="34" charset="0"/>
                <a:ea typeface="Verdana" panose="020B0604030504040204" pitchFamily="34" charset="0"/>
                <a:cs typeface="Calibri" pitchFamily="34" charset="-120"/>
              </a:rPr>
              <a:t>The count on the shelf and the count in the system match.</a:t>
            </a:r>
            <a:endParaRPr lang="en-US" sz="1250" dirty="0">
              <a:latin typeface="Verdana" panose="020B0604030504040204" pitchFamily="34" charset="0"/>
              <a:ea typeface="Verdana" panose="020B0604030504040204" pitchFamily="34" charset="0"/>
            </a:endParaRPr>
          </a:p>
        </p:txBody>
      </p:sp>
      <p:pic>
        <p:nvPicPr>
          <p:cNvPr id="19" name="Image 3" descr="/home/claude/pos-meeting/icons/arrowright_navy.png"/>
          <p:cNvPicPr>
            <a:picLocks noChangeAspect="1"/>
          </p:cNvPicPr>
          <p:nvPr/>
        </p:nvPicPr>
        <p:blipFill>
          <a:blip r:embed="rId4"/>
          <a:stretch>
            <a:fillRect/>
          </a:stretch>
        </p:blipFill>
        <p:spPr>
          <a:xfrm>
            <a:off x="7882128" y="3813048"/>
            <a:ext cx="329184" cy="329184"/>
          </a:xfrm>
          <a:prstGeom prst="rect">
            <a:avLst/>
          </a:prstGeom>
        </p:spPr>
      </p:pic>
      <p:sp>
        <p:nvSpPr>
          <p:cNvPr id="20" name="Shape 14"/>
          <p:cNvSpPr/>
          <p:nvPr/>
        </p:nvSpPr>
        <p:spPr>
          <a:xfrm>
            <a:off x="8229600" y="2331720"/>
            <a:ext cx="3429000" cy="3291840"/>
          </a:xfrm>
          <a:prstGeom prst="roundRect">
            <a:avLst>
              <a:gd name="adj" fmla="val 3333"/>
            </a:avLst>
          </a:prstGeom>
          <a:solidFill>
            <a:srgbClr val="FFFFFF"/>
          </a:solidFill>
          <a:ln/>
          <a:effectLst>
            <a:outerShdw blurRad="114300" dist="38100" dir="5400000" algn="bl" rotWithShape="0">
              <a:srgbClr val="0F1B2E">
                <a:alpha val="14000"/>
              </a:srgbClr>
            </a:outerShdw>
          </a:effectLst>
        </p:spPr>
        <p:txBody>
          <a:bodyPr/>
          <a:lstStyle/>
          <a:p>
            <a:endParaRPr lang="en-PH">
              <a:latin typeface="Verdana" panose="020B0604030504040204" pitchFamily="34" charset="0"/>
              <a:ea typeface="Verdana" panose="020B0604030504040204" pitchFamily="34" charset="0"/>
            </a:endParaRPr>
          </a:p>
        </p:txBody>
      </p:sp>
      <p:sp>
        <p:nvSpPr>
          <p:cNvPr id="21" name="Shape 15"/>
          <p:cNvSpPr/>
          <p:nvPr/>
        </p:nvSpPr>
        <p:spPr>
          <a:xfrm>
            <a:off x="8549640" y="2075688"/>
            <a:ext cx="512064" cy="512064"/>
          </a:xfrm>
          <a:prstGeom prst="ellipse">
            <a:avLst/>
          </a:prstGeom>
          <a:solidFill>
            <a:srgbClr val="0F1B2E"/>
          </a:solidFill>
          <a:ln/>
        </p:spPr>
        <p:txBody>
          <a:bodyPr/>
          <a:lstStyle/>
          <a:p>
            <a:endParaRPr lang="en-PH">
              <a:latin typeface="Verdana" panose="020B0604030504040204" pitchFamily="34" charset="0"/>
              <a:ea typeface="Verdana" panose="020B0604030504040204" pitchFamily="34" charset="0"/>
            </a:endParaRPr>
          </a:p>
        </p:txBody>
      </p:sp>
      <p:sp>
        <p:nvSpPr>
          <p:cNvPr id="22" name="Text 16"/>
          <p:cNvSpPr/>
          <p:nvPr/>
        </p:nvSpPr>
        <p:spPr>
          <a:xfrm>
            <a:off x="8549640" y="2075688"/>
            <a:ext cx="512064" cy="512064"/>
          </a:xfrm>
          <a:prstGeom prst="rect">
            <a:avLst/>
          </a:prstGeom>
          <a:noFill/>
          <a:ln/>
        </p:spPr>
        <p:txBody>
          <a:bodyPr wrap="square" rtlCol="0" anchor="ctr"/>
          <a:lstStyle/>
          <a:p>
            <a:pPr marL="0" indent="0" algn="ctr">
              <a:buNone/>
            </a:pPr>
            <a:r>
              <a:rPr lang="en-US" sz="1900" b="1" dirty="0">
                <a:solidFill>
                  <a:srgbClr val="FFFFFF"/>
                </a:solidFill>
                <a:latin typeface="Verdana" panose="020B0604030504040204" pitchFamily="34" charset="0"/>
                <a:ea typeface="Verdana" panose="020B0604030504040204" pitchFamily="34" charset="0"/>
                <a:cs typeface="Cambria" pitchFamily="34" charset="-120"/>
              </a:rPr>
              <a:t>3</a:t>
            </a:r>
            <a:endParaRPr lang="en-US" sz="1900" dirty="0">
              <a:latin typeface="Verdana" panose="020B0604030504040204" pitchFamily="34" charset="0"/>
              <a:ea typeface="Verdana" panose="020B0604030504040204" pitchFamily="34" charset="0"/>
            </a:endParaRPr>
          </a:p>
        </p:txBody>
      </p:sp>
      <p:sp>
        <p:nvSpPr>
          <p:cNvPr id="23" name="Shape 17"/>
          <p:cNvSpPr/>
          <p:nvPr/>
        </p:nvSpPr>
        <p:spPr>
          <a:xfrm>
            <a:off x="8549640" y="2697480"/>
            <a:ext cx="731520" cy="731520"/>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pic>
        <p:nvPicPr>
          <p:cNvPr id="24" name="Image 4" descr="/home/claude/pos-meeting/icons/bell_blue.png"/>
          <p:cNvPicPr>
            <a:picLocks noChangeAspect="1"/>
          </p:cNvPicPr>
          <p:nvPr/>
        </p:nvPicPr>
        <p:blipFill>
          <a:blip r:embed="rId6"/>
          <a:stretch>
            <a:fillRect/>
          </a:stretch>
        </p:blipFill>
        <p:spPr>
          <a:xfrm>
            <a:off x="8739835" y="2887675"/>
            <a:ext cx="351130" cy="351130"/>
          </a:xfrm>
          <a:prstGeom prst="rect">
            <a:avLst/>
          </a:prstGeom>
        </p:spPr>
      </p:pic>
      <p:sp>
        <p:nvSpPr>
          <p:cNvPr id="25" name="Text 18"/>
          <p:cNvSpPr/>
          <p:nvPr/>
        </p:nvSpPr>
        <p:spPr>
          <a:xfrm>
            <a:off x="8549640" y="3611880"/>
            <a:ext cx="2788920" cy="640080"/>
          </a:xfrm>
          <a:prstGeom prst="rect">
            <a:avLst/>
          </a:prstGeom>
          <a:noFill/>
          <a:ln/>
        </p:spPr>
        <p:txBody>
          <a:bodyPr wrap="square" rtlCol="0" anchor="t"/>
          <a:lstStyle/>
          <a:p>
            <a:pPr marL="0" indent="0">
              <a:buNone/>
            </a:pPr>
            <a:r>
              <a:rPr lang="en-US" sz="1550" b="1" dirty="0">
                <a:solidFill>
                  <a:srgbClr val="0F1B2E"/>
                </a:solidFill>
                <a:latin typeface="Verdana" panose="020B0604030504040204" pitchFamily="34" charset="0"/>
                <a:ea typeface="Verdana" panose="020B0604030504040204" pitchFamily="34" charset="0"/>
                <a:cs typeface="Cambria" pitchFamily="34" charset="-120"/>
              </a:rPr>
              <a:t>A low-stock alert appears</a:t>
            </a:r>
            <a:endParaRPr lang="en-US" sz="1550" dirty="0">
              <a:latin typeface="Verdana" panose="020B0604030504040204" pitchFamily="34" charset="0"/>
              <a:ea typeface="Verdana" panose="020B0604030504040204" pitchFamily="34" charset="0"/>
            </a:endParaRPr>
          </a:p>
        </p:txBody>
      </p:sp>
      <p:sp>
        <p:nvSpPr>
          <p:cNvPr id="26" name="Text 19"/>
          <p:cNvSpPr/>
          <p:nvPr/>
        </p:nvSpPr>
        <p:spPr>
          <a:xfrm>
            <a:off x="8549640" y="4297680"/>
            <a:ext cx="2788920" cy="1188720"/>
          </a:xfrm>
          <a:prstGeom prst="rect">
            <a:avLst/>
          </a:prstGeom>
          <a:noFill/>
          <a:ln/>
        </p:spPr>
        <p:txBody>
          <a:bodyPr wrap="square" rtlCol="0" anchor="t"/>
          <a:lstStyle/>
          <a:p>
            <a:pPr marL="0" indent="0">
              <a:lnSpc>
                <a:spcPct val="120000"/>
              </a:lnSpc>
              <a:buNone/>
            </a:pPr>
            <a:r>
              <a:rPr lang="en-US" sz="1250" dirty="0">
                <a:solidFill>
                  <a:srgbClr val="6B7280"/>
                </a:solidFill>
                <a:latin typeface="Verdana" panose="020B0604030504040204" pitchFamily="34" charset="0"/>
                <a:ea typeface="Verdana" panose="020B0604030504040204" pitchFamily="34" charset="0"/>
                <a:cs typeface="Calibri" pitchFamily="34" charset="-120"/>
              </a:rPr>
              <a:t>The owner sees a warning before an item runs out completely.</a:t>
            </a:r>
            <a:endParaRPr lang="en-US" sz="1250" dirty="0">
              <a:latin typeface="Verdana" panose="020B0604030504040204" pitchFamily="34" charset="0"/>
              <a:ea typeface="Verdana" panose="020B0604030504040204" pitchFamily="34" charset="0"/>
            </a:endParaRPr>
          </a:p>
        </p:txBody>
      </p:sp>
      <p:sp>
        <p:nvSpPr>
          <p:cNvPr id="27" name="Text 20"/>
          <p:cNvSpPr/>
          <p:nvPr/>
        </p:nvSpPr>
        <p:spPr>
          <a:xfrm>
            <a:off x="640080" y="6400800"/>
            <a:ext cx="4572000" cy="274320"/>
          </a:xfrm>
          <a:prstGeom prst="rect">
            <a:avLst/>
          </a:prstGeom>
          <a:noFill/>
          <a:ln/>
        </p:spPr>
        <p:txBody>
          <a:bodyPr wrap="square" rtlCol="0" anchor="ctr"/>
          <a:lstStyle/>
          <a:p>
            <a:pPr marL="0" indent="0">
              <a:buNone/>
            </a:pPr>
            <a:r>
              <a:rPr lang="en-US" sz="900" kern="0" spc="100" dirty="0">
                <a:solidFill>
                  <a:srgbClr val="6B7280"/>
                </a:solidFill>
                <a:latin typeface="Verdana" panose="020B0604030504040204" pitchFamily="34" charset="0"/>
                <a:ea typeface="Verdana" panose="020B0604030504040204" pitchFamily="34" charset="0"/>
                <a:cs typeface="Calibri" pitchFamily="34" charset="-120"/>
              </a:rPr>
              <a:t>CAIDIC HARDWARE POS</a:t>
            </a:r>
            <a:endParaRPr lang="en-US" sz="900" dirty="0">
              <a:latin typeface="Verdana" panose="020B0604030504040204" pitchFamily="34" charset="0"/>
              <a:ea typeface="Verdana" panose="020B0604030504040204" pitchFamily="34" charset="0"/>
            </a:endParaRPr>
          </a:p>
        </p:txBody>
      </p:sp>
      <p:sp>
        <p:nvSpPr>
          <p:cNvPr id="28" name="Text 21"/>
          <p:cNvSpPr/>
          <p:nvPr/>
        </p:nvSpPr>
        <p:spPr>
          <a:xfrm>
            <a:off x="11002975" y="6400800"/>
            <a:ext cx="548640" cy="274320"/>
          </a:xfrm>
          <a:prstGeom prst="rect">
            <a:avLst/>
          </a:prstGeom>
          <a:noFill/>
          <a:ln/>
        </p:spPr>
        <p:txBody>
          <a:bodyPr wrap="square" rtlCol="0" anchor="ctr"/>
          <a:lstStyle/>
          <a:p>
            <a:pPr marL="0" indent="0" algn="r">
              <a:buNone/>
            </a:pPr>
            <a:r>
              <a:rPr lang="en-US" sz="900" dirty="0">
                <a:solidFill>
                  <a:srgbClr val="6B7280"/>
                </a:solidFill>
                <a:latin typeface="Verdana" panose="020B0604030504040204" pitchFamily="34" charset="0"/>
                <a:ea typeface="Verdana" panose="020B0604030504040204" pitchFamily="34" charset="0"/>
                <a:cs typeface="Calibri" pitchFamily="34" charset="-120"/>
              </a:rPr>
              <a:t>7</a:t>
            </a:r>
            <a:endParaRPr lang="en-US" sz="900" dirty="0">
              <a:latin typeface="Verdana" panose="020B0604030504040204" pitchFamily="34" charset="0"/>
              <a:ea typeface="Verdana" panose="020B060403050404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3F6"/>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731520"/>
          </a:xfrm>
          <a:prstGeom prst="rect">
            <a:avLst/>
          </a:prstGeom>
          <a:noFill/>
          <a:ln/>
        </p:spPr>
        <p:txBody>
          <a:bodyPr wrap="square" rtlCol="0" anchor="ctr"/>
          <a:lstStyle/>
          <a:p>
            <a:pPr marL="0" indent="0">
              <a:buNone/>
            </a:pPr>
            <a:r>
              <a:rPr lang="en-US" sz="3200" b="1" dirty="0">
                <a:solidFill>
                  <a:srgbClr val="0F1B2E"/>
                </a:solidFill>
                <a:latin typeface="Verdana" panose="020B0604030504040204" pitchFamily="34" charset="0"/>
                <a:ea typeface="Verdana" panose="020B0604030504040204" pitchFamily="34" charset="0"/>
                <a:cs typeface="Cambria" pitchFamily="34" charset="-120"/>
              </a:rPr>
              <a:t>4. Built-In Accountability</a:t>
            </a:r>
            <a:endParaRPr lang="en-US" sz="3200" dirty="0">
              <a:latin typeface="Verdana" panose="020B0604030504040204" pitchFamily="34" charset="0"/>
              <a:ea typeface="Verdana" panose="020B0604030504040204" pitchFamily="34" charset="0"/>
            </a:endParaRPr>
          </a:p>
        </p:txBody>
      </p:sp>
      <p:sp>
        <p:nvSpPr>
          <p:cNvPr id="3" name="Shape 1"/>
          <p:cNvSpPr/>
          <p:nvPr/>
        </p:nvSpPr>
        <p:spPr>
          <a:xfrm>
            <a:off x="640080" y="1965960"/>
            <a:ext cx="5349240" cy="3749040"/>
          </a:xfrm>
          <a:prstGeom prst="roundRect">
            <a:avLst>
              <a:gd name="adj" fmla="val 2927"/>
            </a:avLst>
          </a:prstGeom>
          <a:solidFill>
            <a:srgbClr val="FFFFFF"/>
          </a:solidFill>
          <a:ln/>
          <a:effectLst>
            <a:outerShdw blurRad="114300" dist="38100" dir="5400000" algn="bl" rotWithShape="0">
              <a:srgbClr val="0F1B2E">
                <a:alpha val="14000"/>
              </a:srgbClr>
            </a:outerShdw>
          </a:effectLst>
        </p:spPr>
        <p:txBody>
          <a:bodyPr/>
          <a:lstStyle/>
          <a:p>
            <a:endParaRPr lang="en-PH">
              <a:latin typeface="Verdana" panose="020B0604030504040204" pitchFamily="34" charset="0"/>
              <a:ea typeface="Verdana" panose="020B0604030504040204" pitchFamily="34" charset="0"/>
            </a:endParaRPr>
          </a:p>
        </p:txBody>
      </p:sp>
      <p:sp>
        <p:nvSpPr>
          <p:cNvPr id="4" name="Shape 2"/>
          <p:cNvSpPr/>
          <p:nvPr/>
        </p:nvSpPr>
        <p:spPr>
          <a:xfrm>
            <a:off x="1005840" y="2377440"/>
            <a:ext cx="868680" cy="868680"/>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pic>
        <p:nvPicPr>
          <p:cNvPr id="5" name="Image 0" descr="/home/claude/pos-meeting/icons/shield_blue.png"/>
          <p:cNvPicPr>
            <a:picLocks noChangeAspect="1"/>
          </p:cNvPicPr>
          <p:nvPr/>
        </p:nvPicPr>
        <p:blipFill>
          <a:blip r:embed="rId3"/>
          <a:stretch>
            <a:fillRect/>
          </a:stretch>
        </p:blipFill>
        <p:spPr>
          <a:xfrm>
            <a:off x="1231697" y="2603297"/>
            <a:ext cx="416966" cy="416966"/>
          </a:xfrm>
          <a:prstGeom prst="rect">
            <a:avLst/>
          </a:prstGeom>
        </p:spPr>
      </p:pic>
      <p:sp>
        <p:nvSpPr>
          <p:cNvPr id="6" name="Text 3"/>
          <p:cNvSpPr/>
          <p:nvPr/>
        </p:nvSpPr>
        <p:spPr>
          <a:xfrm>
            <a:off x="1005840" y="3474720"/>
            <a:ext cx="4617720" cy="502920"/>
          </a:xfrm>
          <a:prstGeom prst="rect">
            <a:avLst/>
          </a:prstGeom>
          <a:noFill/>
          <a:ln/>
        </p:spPr>
        <p:txBody>
          <a:bodyPr wrap="square" rtlCol="0" anchor="ctr"/>
          <a:lstStyle/>
          <a:p>
            <a:pPr marL="0" indent="0">
              <a:buNone/>
            </a:pPr>
            <a:r>
              <a:rPr lang="en-US" sz="1900" b="1" dirty="0">
                <a:solidFill>
                  <a:srgbClr val="0F1B2E"/>
                </a:solidFill>
                <a:latin typeface="Verdana" panose="020B0604030504040204" pitchFamily="34" charset="0"/>
                <a:ea typeface="Verdana" panose="020B0604030504040204" pitchFamily="34" charset="0"/>
                <a:cs typeface="Cambria" pitchFamily="34" charset="-120"/>
              </a:rPr>
              <a:t>Honest Cash Counts</a:t>
            </a:r>
            <a:endParaRPr lang="en-US" sz="1900" dirty="0">
              <a:latin typeface="Verdana" panose="020B0604030504040204" pitchFamily="34" charset="0"/>
              <a:ea typeface="Verdana" panose="020B0604030504040204" pitchFamily="34" charset="0"/>
            </a:endParaRPr>
          </a:p>
        </p:txBody>
      </p:sp>
      <p:sp>
        <p:nvSpPr>
          <p:cNvPr id="7" name="Text 4"/>
          <p:cNvSpPr/>
          <p:nvPr/>
        </p:nvSpPr>
        <p:spPr>
          <a:xfrm>
            <a:off x="1005840" y="4069080"/>
            <a:ext cx="4617720" cy="1463040"/>
          </a:xfrm>
          <a:prstGeom prst="rect">
            <a:avLst/>
          </a:prstGeom>
          <a:noFill/>
          <a:ln/>
        </p:spPr>
        <p:txBody>
          <a:bodyPr wrap="square" rtlCol="0" anchor="t"/>
          <a:lstStyle/>
          <a:p>
            <a:pPr marL="0" indent="0">
              <a:lnSpc>
                <a:spcPct val="130000"/>
              </a:lnSpc>
              <a:buNone/>
            </a:pPr>
            <a:r>
              <a:rPr lang="en-US" sz="1400" dirty="0">
                <a:solidFill>
                  <a:srgbClr val="6B7280"/>
                </a:solidFill>
                <a:latin typeface="Verdana" panose="020B0604030504040204" pitchFamily="34" charset="0"/>
                <a:ea typeface="Verdana" panose="020B0604030504040204" pitchFamily="34" charset="0"/>
                <a:cs typeface="Calibri" pitchFamily="34" charset="-120"/>
              </a:rPr>
              <a:t>At the end of a shift, the cashier counts the drawer before seeing what the system expects. This keeps every count honest.</a:t>
            </a:r>
            <a:endParaRPr lang="en-US" sz="1400" dirty="0">
              <a:latin typeface="Verdana" panose="020B0604030504040204" pitchFamily="34" charset="0"/>
              <a:ea typeface="Verdana" panose="020B0604030504040204" pitchFamily="34" charset="0"/>
            </a:endParaRPr>
          </a:p>
        </p:txBody>
      </p:sp>
      <p:sp>
        <p:nvSpPr>
          <p:cNvPr id="8" name="Shape 5"/>
          <p:cNvSpPr/>
          <p:nvPr/>
        </p:nvSpPr>
        <p:spPr>
          <a:xfrm>
            <a:off x="6355080" y="1965960"/>
            <a:ext cx="5349240" cy="3749040"/>
          </a:xfrm>
          <a:prstGeom prst="roundRect">
            <a:avLst>
              <a:gd name="adj" fmla="val 2927"/>
            </a:avLst>
          </a:prstGeom>
          <a:solidFill>
            <a:srgbClr val="FFFFFF"/>
          </a:solidFill>
          <a:ln/>
          <a:effectLst>
            <a:outerShdw blurRad="114300" dist="38100" dir="5400000" algn="bl" rotWithShape="0">
              <a:srgbClr val="0F1B2E">
                <a:alpha val="14000"/>
              </a:srgbClr>
            </a:outerShdw>
          </a:effectLst>
        </p:spPr>
        <p:txBody>
          <a:bodyPr/>
          <a:lstStyle/>
          <a:p>
            <a:endParaRPr lang="en-PH">
              <a:latin typeface="Verdana" panose="020B0604030504040204" pitchFamily="34" charset="0"/>
              <a:ea typeface="Verdana" panose="020B0604030504040204" pitchFamily="34" charset="0"/>
            </a:endParaRPr>
          </a:p>
        </p:txBody>
      </p:sp>
      <p:sp>
        <p:nvSpPr>
          <p:cNvPr id="9" name="Shape 6"/>
          <p:cNvSpPr/>
          <p:nvPr/>
        </p:nvSpPr>
        <p:spPr>
          <a:xfrm>
            <a:off x="6720840" y="2377440"/>
            <a:ext cx="868680" cy="868680"/>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pic>
        <p:nvPicPr>
          <p:cNvPr id="10" name="Image 1" descr="/home/claude/pos-meeting/icons/filetext_blue.png"/>
          <p:cNvPicPr>
            <a:picLocks noChangeAspect="1"/>
          </p:cNvPicPr>
          <p:nvPr/>
        </p:nvPicPr>
        <p:blipFill>
          <a:blip r:embed="rId4"/>
          <a:stretch>
            <a:fillRect/>
          </a:stretch>
        </p:blipFill>
        <p:spPr>
          <a:xfrm>
            <a:off x="6946697" y="2603297"/>
            <a:ext cx="416966" cy="416966"/>
          </a:xfrm>
          <a:prstGeom prst="rect">
            <a:avLst/>
          </a:prstGeom>
        </p:spPr>
      </p:pic>
      <p:sp>
        <p:nvSpPr>
          <p:cNvPr id="11" name="Text 7"/>
          <p:cNvSpPr/>
          <p:nvPr/>
        </p:nvSpPr>
        <p:spPr>
          <a:xfrm>
            <a:off x="6720840" y="3474720"/>
            <a:ext cx="4617720" cy="502920"/>
          </a:xfrm>
          <a:prstGeom prst="rect">
            <a:avLst/>
          </a:prstGeom>
          <a:noFill/>
          <a:ln/>
        </p:spPr>
        <p:txBody>
          <a:bodyPr wrap="square" rtlCol="0" anchor="ctr"/>
          <a:lstStyle/>
          <a:p>
            <a:pPr marL="0" indent="0">
              <a:buNone/>
            </a:pPr>
            <a:r>
              <a:rPr lang="en-US" sz="1900" b="1" dirty="0">
                <a:solidFill>
                  <a:srgbClr val="0F1B2E"/>
                </a:solidFill>
                <a:latin typeface="Verdana" panose="020B0604030504040204" pitchFamily="34" charset="0"/>
                <a:ea typeface="Verdana" panose="020B0604030504040204" pitchFamily="34" charset="0"/>
                <a:cs typeface="Cambria" pitchFamily="34" charset="-120"/>
              </a:rPr>
              <a:t>A Permanent Record</a:t>
            </a:r>
            <a:endParaRPr lang="en-US" sz="1900" dirty="0">
              <a:latin typeface="Verdana" panose="020B0604030504040204" pitchFamily="34" charset="0"/>
              <a:ea typeface="Verdana" panose="020B0604030504040204" pitchFamily="34" charset="0"/>
            </a:endParaRPr>
          </a:p>
        </p:txBody>
      </p:sp>
      <p:sp>
        <p:nvSpPr>
          <p:cNvPr id="12" name="Text 8"/>
          <p:cNvSpPr/>
          <p:nvPr/>
        </p:nvSpPr>
        <p:spPr>
          <a:xfrm>
            <a:off x="6720840" y="4069080"/>
            <a:ext cx="4617720" cy="1463040"/>
          </a:xfrm>
          <a:prstGeom prst="rect">
            <a:avLst/>
          </a:prstGeom>
          <a:noFill/>
          <a:ln/>
        </p:spPr>
        <p:txBody>
          <a:bodyPr wrap="square" rtlCol="0" anchor="t"/>
          <a:lstStyle/>
          <a:p>
            <a:pPr marL="0" indent="0">
              <a:lnSpc>
                <a:spcPct val="130000"/>
              </a:lnSpc>
              <a:buNone/>
            </a:pPr>
            <a:r>
              <a:rPr lang="en-US" sz="1400" dirty="0">
                <a:solidFill>
                  <a:srgbClr val="6B7280"/>
                </a:solidFill>
                <a:latin typeface="Verdana" panose="020B0604030504040204" pitchFamily="34" charset="0"/>
                <a:ea typeface="Verdana" panose="020B0604030504040204" pitchFamily="34" charset="0"/>
                <a:cs typeface="Calibri" pitchFamily="34" charset="-120"/>
              </a:rPr>
              <a:t>Every important action a cancelled sale, a stock change is logged. That record can never be edited or deleted, even by an owner.</a:t>
            </a:r>
            <a:endParaRPr lang="en-US" sz="1400" dirty="0">
              <a:latin typeface="Verdana" panose="020B0604030504040204" pitchFamily="34" charset="0"/>
              <a:ea typeface="Verdana" panose="020B0604030504040204" pitchFamily="34" charset="0"/>
            </a:endParaRPr>
          </a:p>
        </p:txBody>
      </p:sp>
      <p:sp>
        <p:nvSpPr>
          <p:cNvPr id="13" name="Text 9"/>
          <p:cNvSpPr/>
          <p:nvPr/>
        </p:nvSpPr>
        <p:spPr>
          <a:xfrm>
            <a:off x="640080" y="6400800"/>
            <a:ext cx="4572000" cy="274320"/>
          </a:xfrm>
          <a:prstGeom prst="rect">
            <a:avLst/>
          </a:prstGeom>
          <a:noFill/>
          <a:ln/>
        </p:spPr>
        <p:txBody>
          <a:bodyPr wrap="square" rtlCol="0" anchor="ctr"/>
          <a:lstStyle/>
          <a:p>
            <a:pPr marL="0" indent="0">
              <a:buNone/>
            </a:pPr>
            <a:r>
              <a:rPr lang="en-US" sz="900" kern="0" spc="100" dirty="0">
                <a:solidFill>
                  <a:srgbClr val="6B7280"/>
                </a:solidFill>
                <a:latin typeface="Verdana" panose="020B0604030504040204" pitchFamily="34" charset="0"/>
                <a:ea typeface="Verdana" panose="020B0604030504040204" pitchFamily="34" charset="0"/>
                <a:cs typeface="Calibri" pitchFamily="34" charset="-120"/>
              </a:rPr>
              <a:t>CAIDIC HARDWARE POS</a:t>
            </a:r>
            <a:endParaRPr lang="en-US" sz="900" dirty="0">
              <a:latin typeface="Verdana" panose="020B0604030504040204" pitchFamily="34" charset="0"/>
              <a:ea typeface="Verdana" panose="020B0604030504040204" pitchFamily="34" charset="0"/>
            </a:endParaRPr>
          </a:p>
        </p:txBody>
      </p:sp>
      <p:sp>
        <p:nvSpPr>
          <p:cNvPr id="14" name="Text 10"/>
          <p:cNvSpPr/>
          <p:nvPr/>
        </p:nvSpPr>
        <p:spPr>
          <a:xfrm>
            <a:off x="11002975" y="6400800"/>
            <a:ext cx="548640" cy="274320"/>
          </a:xfrm>
          <a:prstGeom prst="rect">
            <a:avLst/>
          </a:prstGeom>
          <a:noFill/>
          <a:ln/>
        </p:spPr>
        <p:txBody>
          <a:bodyPr wrap="square" rtlCol="0" anchor="ctr"/>
          <a:lstStyle/>
          <a:p>
            <a:pPr marL="0" indent="0" algn="r">
              <a:buNone/>
            </a:pPr>
            <a:r>
              <a:rPr lang="en-US" sz="900" dirty="0">
                <a:solidFill>
                  <a:srgbClr val="6B7280"/>
                </a:solidFill>
                <a:latin typeface="Verdana" panose="020B0604030504040204" pitchFamily="34" charset="0"/>
                <a:ea typeface="Verdana" panose="020B0604030504040204" pitchFamily="34" charset="0"/>
                <a:cs typeface="Calibri" pitchFamily="34" charset="-120"/>
              </a:rPr>
              <a:t>8</a:t>
            </a:r>
            <a:endParaRPr lang="en-US" sz="900" dirty="0">
              <a:latin typeface="Verdana" panose="020B0604030504040204" pitchFamily="34" charset="0"/>
              <a:ea typeface="Verdana" panose="020B060403050404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E"/>
        </a:solidFill>
        <a:effectLst/>
      </p:bgPr>
    </p:bg>
    <p:spTree>
      <p:nvGrpSpPr>
        <p:cNvPr id="1" name=""/>
        <p:cNvGrpSpPr/>
        <p:nvPr/>
      </p:nvGrpSpPr>
      <p:grpSpPr>
        <a:xfrm>
          <a:off x="0" y="0"/>
          <a:ext cx="0" cy="0"/>
          <a:chOff x="0" y="0"/>
          <a:chExt cx="0" cy="0"/>
        </a:xfrm>
      </p:grpSpPr>
      <p:sp>
        <p:nvSpPr>
          <p:cNvPr id="2" name="Shape 0"/>
          <p:cNvSpPr/>
          <p:nvPr/>
        </p:nvSpPr>
        <p:spPr>
          <a:xfrm>
            <a:off x="5684368" y="777240"/>
            <a:ext cx="822960" cy="822960"/>
          </a:xfrm>
          <a:prstGeom prst="ellipse">
            <a:avLst/>
          </a:prstGeom>
          <a:solidFill>
            <a:srgbClr val="1E2F47"/>
          </a:solidFill>
          <a:ln/>
        </p:spPr>
        <p:txBody>
          <a:bodyPr/>
          <a:lstStyle/>
          <a:p>
            <a:endParaRPr lang="en-PH">
              <a:latin typeface="Verdana" panose="020B0604030504040204" pitchFamily="34" charset="0"/>
              <a:ea typeface="Verdana" panose="020B0604030504040204" pitchFamily="34" charset="0"/>
            </a:endParaRPr>
          </a:p>
        </p:txBody>
      </p:sp>
      <p:pic>
        <p:nvPicPr>
          <p:cNvPr id="3" name="Image 0" descr="/home/claude/pos-meeting/icons/dollar_white.png"/>
          <p:cNvPicPr>
            <a:picLocks noChangeAspect="1"/>
          </p:cNvPicPr>
          <p:nvPr/>
        </p:nvPicPr>
        <p:blipFill>
          <a:blip r:embed="rId3"/>
          <a:stretch>
            <a:fillRect/>
          </a:stretch>
        </p:blipFill>
        <p:spPr>
          <a:xfrm>
            <a:off x="5898337" y="991210"/>
            <a:ext cx="395021" cy="395021"/>
          </a:xfrm>
          <a:prstGeom prst="rect">
            <a:avLst/>
          </a:prstGeom>
        </p:spPr>
      </p:pic>
      <p:sp>
        <p:nvSpPr>
          <p:cNvPr id="4" name="Text 1"/>
          <p:cNvSpPr/>
          <p:nvPr/>
        </p:nvSpPr>
        <p:spPr>
          <a:xfrm>
            <a:off x="0" y="1783080"/>
            <a:ext cx="12191695" cy="365760"/>
          </a:xfrm>
          <a:prstGeom prst="rect">
            <a:avLst/>
          </a:prstGeom>
          <a:noFill/>
          <a:ln/>
        </p:spPr>
        <p:txBody>
          <a:bodyPr wrap="square" rtlCol="0" anchor="ctr"/>
          <a:lstStyle/>
          <a:p>
            <a:pPr marL="0" indent="0" algn="ctr">
              <a:buNone/>
            </a:pPr>
            <a:r>
              <a:rPr lang="en-US" sz="1300" b="1" kern="0" spc="300" dirty="0">
                <a:solidFill>
                  <a:srgbClr val="CADCFC"/>
                </a:solidFill>
                <a:latin typeface="Verdana" panose="020B0604030504040204" pitchFamily="34" charset="0"/>
                <a:ea typeface="Verdana" panose="020B0604030504040204" pitchFamily="34" charset="0"/>
                <a:cs typeface="Calibri" pitchFamily="34" charset="-120"/>
              </a:rPr>
              <a:t>WHAT IT COSTS TO RUN</a:t>
            </a:r>
            <a:endParaRPr lang="en-US" sz="1300" dirty="0">
              <a:latin typeface="Verdana" panose="020B0604030504040204" pitchFamily="34" charset="0"/>
              <a:ea typeface="Verdana" panose="020B0604030504040204" pitchFamily="34" charset="0"/>
            </a:endParaRPr>
          </a:p>
        </p:txBody>
      </p:sp>
      <p:sp>
        <p:nvSpPr>
          <p:cNvPr id="5" name="Text 2"/>
          <p:cNvSpPr/>
          <p:nvPr/>
        </p:nvSpPr>
        <p:spPr>
          <a:xfrm>
            <a:off x="0" y="2286000"/>
            <a:ext cx="12191695" cy="1371600"/>
          </a:xfrm>
          <a:prstGeom prst="rect">
            <a:avLst/>
          </a:prstGeom>
          <a:noFill/>
          <a:ln/>
        </p:spPr>
        <p:txBody>
          <a:bodyPr wrap="square" rtlCol="0" anchor="ctr"/>
          <a:lstStyle/>
          <a:p>
            <a:pPr marL="0" indent="0" algn="ctr">
              <a:buNone/>
            </a:pPr>
            <a:r>
              <a:rPr lang="en-US" sz="8400" b="1" kern="0" spc="400" dirty="0">
                <a:solidFill>
                  <a:srgbClr val="FFFFFF"/>
                </a:solidFill>
                <a:latin typeface="Verdana" panose="020B0604030504040204" pitchFamily="34" charset="0"/>
                <a:ea typeface="Verdana" panose="020B0604030504040204" pitchFamily="34" charset="0"/>
                <a:cs typeface="Cambria" pitchFamily="34" charset="-120"/>
              </a:rPr>
              <a:t>FREE</a:t>
            </a:r>
            <a:endParaRPr lang="en-US" sz="8400" dirty="0">
              <a:latin typeface="Verdana" panose="020B0604030504040204" pitchFamily="34" charset="0"/>
              <a:ea typeface="Verdana" panose="020B0604030504040204" pitchFamily="34" charset="0"/>
            </a:endParaRPr>
          </a:p>
        </p:txBody>
      </p:sp>
      <p:sp>
        <p:nvSpPr>
          <p:cNvPr id="6" name="Text 3"/>
          <p:cNvSpPr/>
          <p:nvPr/>
        </p:nvSpPr>
        <p:spPr>
          <a:xfrm>
            <a:off x="1371600" y="3794760"/>
            <a:ext cx="9448495" cy="457200"/>
          </a:xfrm>
          <a:prstGeom prst="rect">
            <a:avLst/>
          </a:prstGeom>
          <a:noFill/>
          <a:ln/>
        </p:spPr>
        <p:txBody>
          <a:bodyPr wrap="square" rtlCol="0" anchor="ctr"/>
          <a:lstStyle/>
          <a:p>
            <a:pPr marL="0" indent="0" algn="ctr">
              <a:buNone/>
            </a:pPr>
            <a:r>
              <a:rPr lang="en-US" sz="1600" dirty="0">
                <a:solidFill>
                  <a:srgbClr val="CADCFC"/>
                </a:solidFill>
                <a:latin typeface="Verdana" panose="020B0604030504040204" pitchFamily="34" charset="0"/>
                <a:ea typeface="Verdana" panose="020B0604030504040204" pitchFamily="34" charset="0"/>
                <a:cs typeface="Calibri" pitchFamily="34" charset="-120"/>
              </a:rPr>
              <a:t>Hosting and the database both cost nothing at your store’s current size.</a:t>
            </a:r>
            <a:endParaRPr lang="en-US" sz="1600" dirty="0">
              <a:latin typeface="Verdana" panose="020B0604030504040204" pitchFamily="34" charset="0"/>
              <a:ea typeface="Verdana" panose="020B0604030504040204" pitchFamily="34" charset="0"/>
            </a:endParaRPr>
          </a:p>
        </p:txBody>
      </p:sp>
      <p:sp>
        <p:nvSpPr>
          <p:cNvPr id="7" name="Text 4"/>
          <p:cNvSpPr/>
          <p:nvPr/>
        </p:nvSpPr>
        <p:spPr>
          <a:xfrm>
            <a:off x="1645920" y="4343400"/>
            <a:ext cx="8899855" cy="457200"/>
          </a:xfrm>
          <a:prstGeom prst="rect">
            <a:avLst/>
          </a:prstGeom>
          <a:noFill/>
          <a:ln/>
        </p:spPr>
        <p:txBody>
          <a:bodyPr wrap="square" rtlCol="0" anchor="ctr"/>
          <a:lstStyle/>
          <a:p>
            <a:pPr marL="0" indent="0" algn="ctr">
              <a:buNone/>
            </a:pPr>
            <a:r>
              <a:rPr lang="en-US" sz="1300" i="1" dirty="0">
                <a:solidFill>
                  <a:srgbClr val="8CA0BE"/>
                </a:solidFill>
                <a:latin typeface="Verdana" panose="020B0604030504040204" pitchFamily="34" charset="0"/>
                <a:ea typeface="Verdana" panose="020B0604030504040204" pitchFamily="34" charset="0"/>
                <a:cs typeface="Calibri" pitchFamily="34" charset="-120"/>
              </a:rPr>
              <a:t>This covers hosting and the database. Ongoing support works differently.</a:t>
            </a:r>
            <a:endParaRPr lang="en-US" sz="1300" dirty="0">
              <a:latin typeface="Verdana" panose="020B0604030504040204" pitchFamily="34" charset="0"/>
              <a:ea typeface="Verdana" panose="020B060403050404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3F6"/>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731520"/>
          </a:xfrm>
          <a:prstGeom prst="rect">
            <a:avLst/>
          </a:prstGeom>
          <a:noFill/>
          <a:ln/>
        </p:spPr>
        <p:txBody>
          <a:bodyPr wrap="square" rtlCol="0" anchor="ctr"/>
          <a:lstStyle/>
          <a:p>
            <a:pPr marL="0" indent="0">
              <a:buNone/>
            </a:pPr>
            <a:r>
              <a:rPr lang="en-US" sz="3200" b="1" dirty="0">
                <a:solidFill>
                  <a:srgbClr val="0F1B2E"/>
                </a:solidFill>
                <a:latin typeface="Verdana" panose="020B0604030504040204" pitchFamily="34" charset="0"/>
                <a:ea typeface="Verdana" panose="020B0604030504040204" pitchFamily="34" charset="0"/>
                <a:cs typeface="Cambria" pitchFamily="34" charset="-120"/>
              </a:rPr>
              <a:t>Two Kinds of Cost, Made Clear</a:t>
            </a:r>
            <a:endParaRPr lang="en-US" sz="3200" dirty="0">
              <a:latin typeface="Verdana" panose="020B0604030504040204" pitchFamily="34" charset="0"/>
              <a:ea typeface="Verdana" panose="020B0604030504040204" pitchFamily="34" charset="0"/>
            </a:endParaRPr>
          </a:p>
        </p:txBody>
      </p:sp>
      <p:sp>
        <p:nvSpPr>
          <p:cNvPr id="3" name="Text 1"/>
          <p:cNvSpPr/>
          <p:nvPr/>
        </p:nvSpPr>
        <p:spPr>
          <a:xfrm>
            <a:off x="640080" y="1188720"/>
            <a:ext cx="10881360" cy="365760"/>
          </a:xfrm>
          <a:prstGeom prst="rect">
            <a:avLst/>
          </a:prstGeom>
          <a:noFill/>
          <a:ln/>
        </p:spPr>
        <p:txBody>
          <a:bodyPr wrap="square" rtlCol="0" anchor="ctr"/>
          <a:lstStyle/>
          <a:p>
            <a:pPr marL="0" indent="0">
              <a:buNone/>
            </a:pPr>
            <a:r>
              <a:rPr lang="en-US" sz="1400" dirty="0">
                <a:solidFill>
                  <a:srgbClr val="6B7280"/>
                </a:solidFill>
                <a:latin typeface="Verdana" panose="020B0604030504040204" pitchFamily="34" charset="0"/>
                <a:ea typeface="Verdana" panose="020B0604030504040204" pitchFamily="34" charset="0"/>
                <a:cs typeface="Calibri" pitchFamily="34" charset="-120"/>
              </a:rPr>
              <a:t>Being upfront about what’s free forever, and what’s a separate choice</a:t>
            </a:r>
            <a:endParaRPr lang="en-US" sz="1400" dirty="0">
              <a:latin typeface="Verdana" panose="020B0604030504040204" pitchFamily="34" charset="0"/>
              <a:ea typeface="Verdana" panose="020B0604030504040204" pitchFamily="34" charset="0"/>
            </a:endParaRPr>
          </a:p>
        </p:txBody>
      </p:sp>
      <p:sp>
        <p:nvSpPr>
          <p:cNvPr id="4" name="Shape 2"/>
          <p:cNvSpPr/>
          <p:nvPr/>
        </p:nvSpPr>
        <p:spPr>
          <a:xfrm>
            <a:off x="640080" y="1965960"/>
            <a:ext cx="5349240" cy="3749040"/>
          </a:xfrm>
          <a:prstGeom prst="roundRect">
            <a:avLst>
              <a:gd name="adj" fmla="val 2927"/>
            </a:avLst>
          </a:prstGeom>
          <a:solidFill>
            <a:srgbClr val="FFFFFF"/>
          </a:solidFill>
          <a:ln/>
          <a:effectLst>
            <a:outerShdw blurRad="114300" dist="38100" dir="5400000" algn="bl" rotWithShape="0">
              <a:srgbClr val="0F1B2E">
                <a:alpha val="14000"/>
              </a:srgbClr>
            </a:outerShdw>
          </a:effectLst>
        </p:spPr>
        <p:txBody>
          <a:bodyPr/>
          <a:lstStyle/>
          <a:p>
            <a:endParaRPr lang="en-PH">
              <a:latin typeface="Verdana" panose="020B0604030504040204" pitchFamily="34" charset="0"/>
              <a:ea typeface="Verdana" panose="020B0604030504040204" pitchFamily="34" charset="0"/>
            </a:endParaRPr>
          </a:p>
        </p:txBody>
      </p:sp>
      <p:sp>
        <p:nvSpPr>
          <p:cNvPr id="5" name="Shape 3"/>
          <p:cNvSpPr/>
          <p:nvPr/>
        </p:nvSpPr>
        <p:spPr>
          <a:xfrm>
            <a:off x="1005840" y="2377440"/>
            <a:ext cx="868680" cy="868680"/>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pic>
        <p:nvPicPr>
          <p:cNvPr id="6" name="Image 0" descr="/home/claude/pos-meeting/icons/checkcircle_blue.png"/>
          <p:cNvPicPr>
            <a:picLocks noChangeAspect="1"/>
          </p:cNvPicPr>
          <p:nvPr/>
        </p:nvPicPr>
        <p:blipFill>
          <a:blip r:embed="rId3"/>
          <a:stretch>
            <a:fillRect/>
          </a:stretch>
        </p:blipFill>
        <p:spPr>
          <a:xfrm>
            <a:off x="1231697" y="2603297"/>
            <a:ext cx="416966" cy="416966"/>
          </a:xfrm>
          <a:prstGeom prst="rect">
            <a:avLst/>
          </a:prstGeom>
        </p:spPr>
      </p:pic>
      <p:sp>
        <p:nvSpPr>
          <p:cNvPr id="7" name="Text 4"/>
          <p:cNvSpPr/>
          <p:nvPr/>
        </p:nvSpPr>
        <p:spPr>
          <a:xfrm>
            <a:off x="1005840" y="3474720"/>
            <a:ext cx="4617720" cy="685800"/>
          </a:xfrm>
          <a:prstGeom prst="rect">
            <a:avLst/>
          </a:prstGeom>
          <a:noFill/>
          <a:ln/>
        </p:spPr>
        <p:txBody>
          <a:bodyPr wrap="square" rtlCol="0" anchor="t"/>
          <a:lstStyle/>
          <a:p>
            <a:pPr marL="0" indent="0">
              <a:buNone/>
            </a:pPr>
            <a:r>
              <a:rPr lang="en-US" sz="1800" b="1" dirty="0">
                <a:solidFill>
                  <a:srgbClr val="0F1B2E"/>
                </a:solidFill>
                <a:latin typeface="Verdana" panose="020B0604030504040204" pitchFamily="34" charset="0"/>
                <a:ea typeface="Verdana" panose="020B0604030504040204" pitchFamily="34" charset="0"/>
                <a:cs typeface="Cambria" pitchFamily="34" charset="-120"/>
              </a:rPr>
              <a:t>Free, No Subscription as Always</a:t>
            </a:r>
            <a:endParaRPr lang="en-US" sz="1800" dirty="0">
              <a:latin typeface="Verdana" panose="020B0604030504040204" pitchFamily="34" charset="0"/>
              <a:ea typeface="Verdana" panose="020B0604030504040204" pitchFamily="34" charset="0"/>
            </a:endParaRPr>
          </a:p>
        </p:txBody>
      </p:sp>
      <p:sp>
        <p:nvSpPr>
          <p:cNvPr id="8" name="Text 5"/>
          <p:cNvSpPr/>
          <p:nvPr/>
        </p:nvSpPr>
        <p:spPr>
          <a:xfrm>
            <a:off x="1005840" y="4251960"/>
            <a:ext cx="4617720" cy="1371600"/>
          </a:xfrm>
          <a:prstGeom prst="rect">
            <a:avLst/>
          </a:prstGeom>
          <a:noFill/>
          <a:ln/>
        </p:spPr>
        <p:txBody>
          <a:bodyPr wrap="square" rtlCol="0" anchor="t"/>
          <a:lstStyle/>
          <a:p>
            <a:pPr marL="0" indent="0">
              <a:lnSpc>
                <a:spcPct val="130000"/>
              </a:lnSpc>
              <a:buNone/>
            </a:pPr>
            <a:r>
              <a:rPr lang="en-US" sz="1350" dirty="0">
                <a:solidFill>
                  <a:srgbClr val="6B7280"/>
                </a:solidFill>
                <a:latin typeface="Verdana" panose="020B0604030504040204" pitchFamily="34" charset="0"/>
                <a:ea typeface="Verdana" panose="020B0604030504040204" pitchFamily="34" charset="0"/>
                <a:cs typeface="Calibri" pitchFamily="34" charset="-120"/>
              </a:rPr>
              <a:t>The software itself never charges a monthly fee. It runs on your own account, and it stays yours to keep running.</a:t>
            </a:r>
            <a:endParaRPr lang="en-US" sz="1350" dirty="0">
              <a:latin typeface="Verdana" panose="020B0604030504040204" pitchFamily="34" charset="0"/>
              <a:ea typeface="Verdana" panose="020B0604030504040204" pitchFamily="34" charset="0"/>
            </a:endParaRPr>
          </a:p>
        </p:txBody>
      </p:sp>
      <p:sp>
        <p:nvSpPr>
          <p:cNvPr id="9" name="Shape 6"/>
          <p:cNvSpPr/>
          <p:nvPr/>
        </p:nvSpPr>
        <p:spPr>
          <a:xfrm>
            <a:off x="6355080" y="1965960"/>
            <a:ext cx="5349240" cy="3749040"/>
          </a:xfrm>
          <a:prstGeom prst="roundRect">
            <a:avLst>
              <a:gd name="adj" fmla="val 2927"/>
            </a:avLst>
          </a:prstGeom>
          <a:solidFill>
            <a:srgbClr val="FFFFFF"/>
          </a:solidFill>
          <a:ln/>
          <a:effectLst>
            <a:outerShdw blurRad="114300" dist="38100" dir="5400000" algn="bl" rotWithShape="0">
              <a:srgbClr val="0F1B2E">
                <a:alpha val="14000"/>
              </a:srgbClr>
            </a:outerShdw>
          </a:effectLst>
        </p:spPr>
        <p:txBody>
          <a:bodyPr/>
          <a:lstStyle/>
          <a:p>
            <a:endParaRPr lang="en-PH">
              <a:latin typeface="Verdana" panose="020B0604030504040204" pitchFamily="34" charset="0"/>
              <a:ea typeface="Verdana" panose="020B0604030504040204" pitchFamily="34" charset="0"/>
            </a:endParaRPr>
          </a:p>
        </p:txBody>
      </p:sp>
      <p:sp>
        <p:nvSpPr>
          <p:cNvPr id="10" name="Shape 7"/>
          <p:cNvSpPr/>
          <p:nvPr/>
        </p:nvSpPr>
        <p:spPr>
          <a:xfrm>
            <a:off x="6720840" y="2377440"/>
            <a:ext cx="868680" cy="868680"/>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pic>
        <p:nvPicPr>
          <p:cNvPr id="11" name="Image 1" descr="/home/claude/pos-meeting/icons/lifebuoy_blue.png"/>
          <p:cNvPicPr>
            <a:picLocks noChangeAspect="1"/>
          </p:cNvPicPr>
          <p:nvPr/>
        </p:nvPicPr>
        <p:blipFill>
          <a:blip r:embed="rId4"/>
          <a:stretch>
            <a:fillRect/>
          </a:stretch>
        </p:blipFill>
        <p:spPr>
          <a:xfrm>
            <a:off x="6946697" y="2603297"/>
            <a:ext cx="416966" cy="416966"/>
          </a:xfrm>
          <a:prstGeom prst="rect">
            <a:avLst/>
          </a:prstGeom>
        </p:spPr>
      </p:pic>
      <p:sp>
        <p:nvSpPr>
          <p:cNvPr id="12" name="Text 8"/>
          <p:cNvSpPr/>
          <p:nvPr/>
        </p:nvSpPr>
        <p:spPr>
          <a:xfrm>
            <a:off x="6720840" y="3474720"/>
            <a:ext cx="4617720" cy="685800"/>
          </a:xfrm>
          <a:prstGeom prst="rect">
            <a:avLst/>
          </a:prstGeom>
          <a:noFill/>
          <a:ln/>
        </p:spPr>
        <p:txBody>
          <a:bodyPr wrap="square" rtlCol="0" anchor="t"/>
          <a:lstStyle/>
          <a:p>
            <a:pPr marL="0" indent="0">
              <a:buNone/>
            </a:pPr>
            <a:r>
              <a:rPr lang="en-US" sz="1800" b="1" dirty="0">
                <a:solidFill>
                  <a:srgbClr val="0F1B2E"/>
                </a:solidFill>
                <a:latin typeface="Verdana" panose="020B0604030504040204" pitchFamily="34" charset="0"/>
                <a:ea typeface="Verdana" panose="020B0604030504040204" pitchFamily="34" charset="0"/>
                <a:cs typeface="Cambria" pitchFamily="34" charset="-120"/>
              </a:rPr>
              <a:t>Ongoing Support </a:t>
            </a:r>
            <a:r>
              <a:rPr lang="en-US" b="1" dirty="0">
                <a:solidFill>
                  <a:srgbClr val="0F1B2E"/>
                </a:solidFill>
                <a:latin typeface="Verdana" panose="020B0604030504040204" pitchFamily="34" charset="0"/>
                <a:ea typeface="Verdana" panose="020B0604030504040204" pitchFamily="34" charset="0"/>
                <a:cs typeface="Cambria" pitchFamily="34" charset="-120"/>
              </a:rPr>
              <a:t>(</a:t>
            </a:r>
            <a:r>
              <a:rPr lang="en-US" sz="1800" b="1" dirty="0">
                <a:solidFill>
                  <a:srgbClr val="0F1B2E"/>
                </a:solidFill>
                <a:latin typeface="Verdana" panose="020B0604030504040204" pitchFamily="34" charset="0"/>
                <a:ea typeface="Verdana" panose="020B0604030504040204" pitchFamily="34" charset="0"/>
                <a:cs typeface="Cambria" pitchFamily="34" charset="-120"/>
              </a:rPr>
              <a:t>Optional)</a:t>
            </a:r>
            <a:endParaRPr lang="en-US" sz="1800" dirty="0">
              <a:latin typeface="Verdana" panose="020B0604030504040204" pitchFamily="34" charset="0"/>
              <a:ea typeface="Verdana" panose="020B0604030504040204" pitchFamily="34" charset="0"/>
            </a:endParaRPr>
          </a:p>
        </p:txBody>
      </p:sp>
      <p:sp>
        <p:nvSpPr>
          <p:cNvPr id="13" name="Text 9"/>
          <p:cNvSpPr/>
          <p:nvPr/>
        </p:nvSpPr>
        <p:spPr>
          <a:xfrm>
            <a:off x="6720840" y="4251960"/>
            <a:ext cx="4617720" cy="1371600"/>
          </a:xfrm>
          <a:prstGeom prst="rect">
            <a:avLst/>
          </a:prstGeom>
          <a:noFill/>
          <a:ln/>
        </p:spPr>
        <p:txBody>
          <a:bodyPr wrap="square" rtlCol="0" anchor="t"/>
          <a:lstStyle/>
          <a:p>
            <a:pPr marL="0" indent="0">
              <a:lnSpc>
                <a:spcPct val="130000"/>
              </a:lnSpc>
              <a:buNone/>
            </a:pPr>
            <a:r>
              <a:rPr lang="en-US" sz="1350" dirty="0">
                <a:solidFill>
                  <a:srgbClr val="6B7280"/>
                </a:solidFill>
                <a:latin typeface="Verdana" panose="020B0604030504040204" pitchFamily="34" charset="0"/>
                <a:ea typeface="Verdana" panose="020B0604030504040204" pitchFamily="34" charset="0"/>
                <a:cs typeface="Calibri" pitchFamily="34" charset="-120"/>
              </a:rPr>
              <a:t>Fast help, small fixes, and someone to call when something comes up. A simple monthly arrangement, separate from the software, if only you want it.</a:t>
            </a:r>
            <a:endParaRPr lang="en-US" sz="1350" dirty="0">
              <a:latin typeface="Verdana" panose="020B0604030504040204" pitchFamily="34" charset="0"/>
              <a:ea typeface="Verdana" panose="020B0604030504040204" pitchFamily="34" charset="0"/>
            </a:endParaRPr>
          </a:p>
        </p:txBody>
      </p:sp>
      <p:sp>
        <p:nvSpPr>
          <p:cNvPr id="14" name="Text 10"/>
          <p:cNvSpPr/>
          <p:nvPr/>
        </p:nvSpPr>
        <p:spPr>
          <a:xfrm>
            <a:off x="640080" y="6400800"/>
            <a:ext cx="4572000" cy="274320"/>
          </a:xfrm>
          <a:prstGeom prst="rect">
            <a:avLst/>
          </a:prstGeom>
          <a:noFill/>
          <a:ln/>
        </p:spPr>
        <p:txBody>
          <a:bodyPr wrap="square" rtlCol="0" anchor="ctr"/>
          <a:lstStyle/>
          <a:p>
            <a:pPr marL="0" indent="0">
              <a:buNone/>
            </a:pPr>
            <a:r>
              <a:rPr lang="en-US" sz="900" kern="0" spc="100" dirty="0">
                <a:solidFill>
                  <a:srgbClr val="6B7280"/>
                </a:solidFill>
                <a:latin typeface="Verdana" panose="020B0604030504040204" pitchFamily="34" charset="0"/>
                <a:ea typeface="Verdana" panose="020B0604030504040204" pitchFamily="34" charset="0"/>
                <a:cs typeface="Calibri" pitchFamily="34" charset="-120"/>
              </a:rPr>
              <a:t>CAIDIC HARDWARE POS</a:t>
            </a:r>
            <a:endParaRPr lang="en-US" sz="900" dirty="0">
              <a:latin typeface="Verdana" panose="020B0604030504040204" pitchFamily="34" charset="0"/>
              <a:ea typeface="Verdana" panose="020B0604030504040204" pitchFamily="34" charset="0"/>
            </a:endParaRPr>
          </a:p>
        </p:txBody>
      </p:sp>
      <p:sp>
        <p:nvSpPr>
          <p:cNvPr id="15" name="Text 11"/>
          <p:cNvSpPr/>
          <p:nvPr/>
        </p:nvSpPr>
        <p:spPr>
          <a:xfrm>
            <a:off x="11002975" y="6400800"/>
            <a:ext cx="548640" cy="274320"/>
          </a:xfrm>
          <a:prstGeom prst="rect">
            <a:avLst/>
          </a:prstGeom>
          <a:noFill/>
          <a:ln/>
        </p:spPr>
        <p:txBody>
          <a:bodyPr wrap="square" rtlCol="0" anchor="ctr"/>
          <a:lstStyle/>
          <a:p>
            <a:pPr marL="0" indent="0" algn="r">
              <a:buNone/>
            </a:pPr>
            <a:r>
              <a:rPr lang="en-US" sz="900" dirty="0">
                <a:solidFill>
                  <a:srgbClr val="6B7280"/>
                </a:solidFill>
                <a:latin typeface="Verdana" panose="020B0604030504040204" pitchFamily="34" charset="0"/>
                <a:ea typeface="Verdana" panose="020B0604030504040204" pitchFamily="34" charset="0"/>
                <a:cs typeface="Calibri" pitchFamily="34" charset="-120"/>
              </a:rPr>
              <a:t>10</a:t>
            </a:r>
            <a:endParaRPr lang="en-US" sz="900" dirty="0">
              <a:latin typeface="Verdana" panose="020B0604030504040204" pitchFamily="34" charset="0"/>
              <a:ea typeface="Verdana" panose="020B060403050404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3F6"/>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731520"/>
          </a:xfrm>
          <a:prstGeom prst="rect">
            <a:avLst/>
          </a:prstGeom>
          <a:noFill/>
          <a:ln/>
        </p:spPr>
        <p:txBody>
          <a:bodyPr wrap="square" rtlCol="0" anchor="ctr"/>
          <a:lstStyle/>
          <a:p>
            <a:pPr marL="0" indent="0">
              <a:buNone/>
            </a:pPr>
            <a:r>
              <a:rPr lang="en-US" sz="3200" b="1" dirty="0">
                <a:solidFill>
                  <a:srgbClr val="0F1B2E"/>
                </a:solidFill>
                <a:latin typeface="Verdana" panose="020B0604030504040204" pitchFamily="34" charset="0"/>
                <a:ea typeface="Verdana" panose="020B0604030504040204" pitchFamily="34" charset="0"/>
                <a:cs typeface="Cambria" pitchFamily="34" charset="-120"/>
              </a:rPr>
              <a:t>What’s Left to Finish</a:t>
            </a:r>
            <a:endParaRPr lang="en-US" sz="3200" dirty="0">
              <a:latin typeface="Verdana" panose="020B0604030504040204" pitchFamily="34" charset="0"/>
              <a:ea typeface="Verdana" panose="020B0604030504040204" pitchFamily="34" charset="0"/>
            </a:endParaRPr>
          </a:p>
        </p:txBody>
      </p:sp>
      <p:sp>
        <p:nvSpPr>
          <p:cNvPr id="3" name="Shape 1"/>
          <p:cNvSpPr/>
          <p:nvPr/>
        </p:nvSpPr>
        <p:spPr>
          <a:xfrm>
            <a:off x="640080" y="2103120"/>
            <a:ext cx="10881360" cy="1005840"/>
          </a:xfrm>
          <a:prstGeom prst="roundRect">
            <a:avLst>
              <a:gd name="adj" fmla="val 9091"/>
            </a:avLst>
          </a:prstGeom>
          <a:solidFill>
            <a:srgbClr val="FFFFFF"/>
          </a:solidFill>
          <a:ln/>
          <a:effectLst>
            <a:outerShdw blurRad="114300" dist="38100" dir="5400000" algn="bl" rotWithShape="0">
              <a:srgbClr val="0F1B2E">
                <a:alpha val="14000"/>
              </a:srgbClr>
            </a:outerShdw>
          </a:effectLst>
        </p:spPr>
        <p:txBody>
          <a:bodyPr/>
          <a:lstStyle/>
          <a:p>
            <a:endParaRPr lang="en-PH">
              <a:latin typeface="Verdana" panose="020B0604030504040204" pitchFamily="34" charset="0"/>
              <a:ea typeface="Verdana" panose="020B0604030504040204" pitchFamily="34" charset="0"/>
            </a:endParaRPr>
          </a:p>
        </p:txBody>
      </p:sp>
      <p:sp>
        <p:nvSpPr>
          <p:cNvPr id="4" name="Shape 2"/>
          <p:cNvSpPr/>
          <p:nvPr/>
        </p:nvSpPr>
        <p:spPr>
          <a:xfrm>
            <a:off x="914400" y="2267712"/>
            <a:ext cx="676656" cy="676656"/>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pic>
        <p:nvPicPr>
          <p:cNvPr id="5" name="Image 0" descr="/home/claude/pos-meeting/icons/printer_blue.png"/>
          <p:cNvPicPr>
            <a:picLocks noChangeAspect="1"/>
          </p:cNvPicPr>
          <p:nvPr/>
        </p:nvPicPr>
        <p:blipFill>
          <a:blip r:embed="rId3"/>
          <a:stretch>
            <a:fillRect/>
          </a:stretch>
        </p:blipFill>
        <p:spPr>
          <a:xfrm>
            <a:off x="1097097" y="2450409"/>
            <a:ext cx="311262" cy="311262"/>
          </a:xfrm>
          <a:prstGeom prst="rect">
            <a:avLst/>
          </a:prstGeom>
        </p:spPr>
      </p:pic>
      <p:sp>
        <p:nvSpPr>
          <p:cNvPr id="6" name="Text 3"/>
          <p:cNvSpPr/>
          <p:nvPr/>
        </p:nvSpPr>
        <p:spPr>
          <a:xfrm>
            <a:off x="1828800" y="2231136"/>
            <a:ext cx="4572000" cy="365760"/>
          </a:xfrm>
          <a:prstGeom prst="rect">
            <a:avLst/>
          </a:prstGeom>
          <a:noFill/>
          <a:ln/>
        </p:spPr>
        <p:txBody>
          <a:bodyPr wrap="square" rtlCol="0" anchor="ctr"/>
          <a:lstStyle/>
          <a:p>
            <a:pPr marL="0" indent="0">
              <a:buNone/>
            </a:pPr>
            <a:r>
              <a:rPr lang="en-US" sz="1600" b="1" dirty="0">
                <a:solidFill>
                  <a:srgbClr val="0F1B2E"/>
                </a:solidFill>
                <a:latin typeface="Verdana" panose="020B0604030504040204" pitchFamily="34" charset="0"/>
                <a:ea typeface="Verdana" panose="020B0604030504040204" pitchFamily="34" charset="0"/>
                <a:cs typeface="Cambria" pitchFamily="34" charset="-120"/>
              </a:rPr>
              <a:t>Printing paper receipts</a:t>
            </a:r>
            <a:endParaRPr lang="en-US" sz="1600" dirty="0">
              <a:latin typeface="Verdana" panose="020B0604030504040204" pitchFamily="34" charset="0"/>
              <a:ea typeface="Verdana" panose="020B0604030504040204" pitchFamily="34" charset="0"/>
            </a:endParaRPr>
          </a:p>
        </p:txBody>
      </p:sp>
      <p:sp>
        <p:nvSpPr>
          <p:cNvPr id="7" name="Text 4"/>
          <p:cNvSpPr/>
          <p:nvPr/>
        </p:nvSpPr>
        <p:spPr>
          <a:xfrm>
            <a:off x="1828800" y="2633472"/>
            <a:ext cx="9418320" cy="365760"/>
          </a:xfrm>
          <a:prstGeom prst="rect">
            <a:avLst/>
          </a:prstGeom>
          <a:noFill/>
          <a:ln/>
        </p:spPr>
        <p:txBody>
          <a:bodyPr wrap="square" rtlCol="0" anchor="ctr"/>
          <a:lstStyle/>
          <a:p>
            <a:pPr marL="0" indent="0">
              <a:buNone/>
            </a:pPr>
            <a:r>
              <a:rPr lang="en-US" sz="1250" dirty="0">
                <a:solidFill>
                  <a:srgbClr val="6B7280"/>
                </a:solidFill>
                <a:latin typeface="Verdana" panose="020B0604030504040204" pitchFamily="34" charset="0"/>
                <a:ea typeface="Verdana" panose="020B0604030504040204" pitchFamily="34" charset="0"/>
                <a:cs typeface="Calibri" pitchFamily="34" charset="-120"/>
              </a:rPr>
              <a:t>Connecting the till to a physical receipt printer.</a:t>
            </a:r>
            <a:endParaRPr lang="en-US" sz="1250" dirty="0">
              <a:latin typeface="Verdana" panose="020B0604030504040204" pitchFamily="34" charset="0"/>
              <a:ea typeface="Verdana" panose="020B0604030504040204" pitchFamily="34" charset="0"/>
            </a:endParaRPr>
          </a:p>
        </p:txBody>
      </p:sp>
      <p:sp>
        <p:nvSpPr>
          <p:cNvPr id="8" name="Shape 5"/>
          <p:cNvSpPr/>
          <p:nvPr/>
        </p:nvSpPr>
        <p:spPr>
          <a:xfrm>
            <a:off x="640080" y="3337560"/>
            <a:ext cx="10881360" cy="1005840"/>
          </a:xfrm>
          <a:prstGeom prst="roundRect">
            <a:avLst>
              <a:gd name="adj" fmla="val 9091"/>
            </a:avLst>
          </a:prstGeom>
          <a:solidFill>
            <a:srgbClr val="FFFFFF"/>
          </a:solidFill>
          <a:ln/>
          <a:effectLst>
            <a:outerShdw blurRad="114300" dist="38100" dir="5400000" algn="bl" rotWithShape="0">
              <a:srgbClr val="0F1B2E">
                <a:alpha val="14000"/>
              </a:srgbClr>
            </a:outerShdw>
          </a:effectLst>
        </p:spPr>
        <p:txBody>
          <a:bodyPr/>
          <a:lstStyle/>
          <a:p>
            <a:endParaRPr lang="en-PH">
              <a:latin typeface="Verdana" panose="020B0604030504040204" pitchFamily="34" charset="0"/>
              <a:ea typeface="Verdana" panose="020B0604030504040204" pitchFamily="34" charset="0"/>
            </a:endParaRPr>
          </a:p>
        </p:txBody>
      </p:sp>
      <p:sp>
        <p:nvSpPr>
          <p:cNvPr id="9" name="Shape 6"/>
          <p:cNvSpPr/>
          <p:nvPr/>
        </p:nvSpPr>
        <p:spPr>
          <a:xfrm>
            <a:off x="914400" y="3502152"/>
            <a:ext cx="676656" cy="676656"/>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pic>
        <p:nvPicPr>
          <p:cNvPr id="10" name="Image 1" descr="/home/claude/pos-meeting/icons/barchart_blue.png"/>
          <p:cNvPicPr>
            <a:picLocks noChangeAspect="1"/>
          </p:cNvPicPr>
          <p:nvPr/>
        </p:nvPicPr>
        <p:blipFill>
          <a:blip r:embed="rId4"/>
          <a:stretch>
            <a:fillRect/>
          </a:stretch>
        </p:blipFill>
        <p:spPr>
          <a:xfrm>
            <a:off x="1097097" y="3684849"/>
            <a:ext cx="311262" cy="311262"/>
          </a:xfrm>
          <a:prstGeom prst="rect">
            <a:avLst/>
          </a:prstGeom>
        </p:spPr>
      </p:pic>
      <p:sp>
        <p:nvSpPr>
          <p:cNvPr id="11" name="Text 7"/>
          <p:cNvSpPr/>
          <p:nvPr/>
        </p:nvSpPr>
        <p:spPr>
          <a:xfrm>
            <a:off x="1828800" y="3465576"/>
            <a:ext cx="4572000" cy="365760"/>
          </a:xfrm>
          <a:prstGeom prst="rect">
            <a:avLst/>
          </a:prstGeom>
          <a:noFill/>
          <a:ln/>
        </p:spPr>
        <p:txBody>
          <a:bodyPr wrap="square" rtlCol="0" anchor="ctr"/>
          <a:lstStyle/>
          <a:p>
            <a:pPr marL="0" indent="0">
              <a:buNone/>
            </a:pPr>
            <a:r>
              <a:rPr lang="en-US" sz="1600" b="1" dirty="0">
                <a:solidFill>
                  <a:srgbClr val="0F1B2E"/>
                </a:solidFill>
                <a:latin typeface="Verdana" panose="020B0604030504040204" pitchFamily="34" charset="0"/>
                <a:ea typeface="Verdana" panose="020B0604030504040204" pitchFamily="34" charset="0"/>
                <a:cs typeface="Cambria" pitchFamily="34" charset="-120"/>
              </a:rPr>
              <a:t>Sales reports</a:t>
            </a:r>
            <a:endParaRPr lang="en-US" sz="1600" dirty="0">
              <a:latin typeface="Verdana" panose="020B0604030504040204" pitchFamily="34" charset="0"/>
              <a:ea typeface="Verdana" panose="020B0604030504040204" pitchFamily="34" charset="0"/>
            </a:endParaRPr>
          </a:p>
        </p:txBody>
      </p:sp>
      <p:sp>
        <p:nvSpPr>
          <p:cNvPr id="12" name="Text 8"/>
          <p:cNvSpPr/>
          <p:nvPr/>
        </p:nvSpPr>
        <p:spPr>
          <a:xfrm>
            <a:off x="1828800" y="3867912"/>
            <a:ext cx="9418320" cy="365760"/>
          </a:xfrm>
          <a:prstGeom prst="rect">
            <a:avLst/>
          </a:prstGeom>
          <a:noFill/>
          <a:ln/>
        </p:spPr>
        <p:txBody>
          <a:bodyPr wrap="square" rtlCol="0" anchor="ctr"/>
          <a:lstStyle/>
          <a:p>
            <a:pPr marL="0" indent="0">
              <a:buNone/>
            </a:pPr>
            <a:r>
              <a:rPr lang="en-US" sz="1250" dirty="0">
                <a:solidFill>
                  <a:srgbClr val="6B7280"/>
                </a:solidFill>
                <a:latin typeface="Verdana" panose="020B0604030504040204" pitchFamily="34" charset="0"/>
                <a:ea typeface="Verdana" panose="020B0604030504040204" pitchFamily="34" charset="0"/>
                <a:cs typeface="Calibri" pitchFamily="34" charset="-120"/>
              </a:rPr>
              <a:t>Best-selling items and daily totals, in one screen.</a:t>
            </a:r>
            <a:endParaRPr lang="en-US" sz="1250" dirty="0">
              <a:latin typeface="Verdana" panose="020B0604030504040204" pitchFamily="34" charset="0"/>
              <a:ea typeface="Verdana" panose="020B0604030504040204" pitchFamily="34" charset="0"/>
            </a:endParaRPr>
          </a:p>
        </p:txBody>
      </p:sp>
      <p:sp>
        <p:nvSpPr>
          <p:cNvPr id="13" name="Shape 9"/>
          <p:cNvSpPr/>
          <p:nvPr/>
        </p:nvSpPr>
        <p:spPr>
          <a:xfrm>
            <a:off x="640080" y="4572000"/>
            <a:ext cx="10881360" cy="1005840"/>
          </a:xfrm>
          <a:prstGeom prst="roundRect">
            <a:avLst>
              <a:gd name="adj" fmla="val 9091"/>
            </a:avLst>
          </a:prstGeom>
          <a:solidFill>
            <a:srgbClr val="FFFFFF"/>
          </a:solidFill>
          <a:ln/>
          <a:effectLst>
            <a:outerShdw blurRad="114300" dist="38100" dir="5400000" algn="bl" rotWithShape="0">
              <a:srgbClr val="0F1B2E">
                <a:alpha val="14000"/>
              </a:srgbClr>
            </a:outerShdw>
          </a:effectLst>
        </p:spPr>
        <p:txBody>
          <a:bodyPr/>
          <a:lstStyle/>
          <a:p>
            <a:endParaRPr lang="en-PH">
              <a:latin typeface="Verdana" panose="020B0604030504040204" pitchFamily="34" charset="0"/>
              <a:ea typeface="Verdana" panose="020B0604030504040204" pitchFamily="34" charset="0"/>
            </a:endParaRPr>
          </a:p>
        </p:txBody>
      </p:sp>
      <p:sp>
        <p:nvSpPr>
          <p:cNvPr id="14" name="Shape 10"/>
          <p:cNvSpPr/>
          <p:nvPr/>
        </p:nvSpPr>
        <p:spPr>
          <a:xfrm>
            <a:off x="914400" y="4736592"/>
            <a:ext cx="676656" cy="676656"/>
          </a:xfrm>
          <a:prstGeom prst="ellipse">
            <a:avLst/>
          </a:prstGeom>
          <a:solidFill>
            <a:srgbClr val="EAF1FE"/>
          </a:solidFill>
          <a:ln/>
        </p:spPr>
        <p:txBody>
          <a:bodyPr/>
          <a:lstStyle/>
          <a:p>
            <a:endParaRPr lang="en-PH">
              <a:latin typeface="Verdana" panose="020B0604030504040204" pitchFamily="34" charset="0"/>
              <a:ea typeface="Verdana" panose="020B0604030504040204" pitchFamily="34" charset="0"/>
            </a:endParaRPr>
          </a:p>
        </p:txBody>
      </p:sp>
      <p:pic>
        <p:nvPicPr>
          <p:cNvPr id="15" name="Image 2" descr="/home/claude/pos-meeting/icons/database_blue.png"/>
          <p:cNvPicPr>
            <a:picLocks noChangeAspect="1"/>
          </p:cNvPicPr>
          <p:nvPr/>
        </p:nvPicPr>
        <p:blipFill>
          <a:blip r:embed="rId5"/>
          <a:stretch>
            <a:fillRect/>
          </a:stretch>
        </p:blipFill>
        <p:spPr>
          <a:xfrm>
            <a:off x="1097097" y="4919289"/>
            <a:ext cx="311262" cy="311262"/>
          </a:xfrm>
          <a:prstGeom prst="rect">
            <a:avLst/>
          </a:prstGeom>
        </p:spPr>
      </p:pic>
      <p:sp>
        <p:nvSpPr>
          <p:cNvPr id="16" name="Text 11"/>
          <p:cNvSpPr/>
          <p:nvPr/>
        </p:nvSpPr>
        <p:spPr>
          <a:xfrm>
            <a:off x="1828800" y="4700016"/>
            <a:ext cx="4572000" cy="365760"/>
          </a:xfrm>
          <a:prstGeom prst="rect">
            <a:avLst/>
          </a:prstGeom>
          <a:noFill/>
          <a:ln/>
        </p:spPr>
        <p:txBody>
          <a:bodyPr wrap="square" rtlCol="0" anchor="ctr"/>
          <a:lstStyle/>
          <a:p>
            <a:pPr marL="0" indent="0">
              <a:buNone/>
            </a:pPr>
            <a:r>
              <a:rPr lang="en-US" sz="1600" b="1" dirty="0">
                <a:solidFill>
                  <a:srgbClr val="0F1B2E"/>
                </a:solidFill>
                <a:latin typeface="Verdana" panose="020B0604030504040204" pitchFamily="34" charset="0"/>
                <a:ea typeface="Verdana" panose="020B0604030504040204" pitchFamily="34" charset="0"/>
                <a:cs typeface="Cambria" pitchFamily="34" charset="-120"/>
              </a:rPr>
              <a:t>Connecting to live data</a:t>
            </a:r>
            <a:endParaRPr lang="en-US" sz="1600" dirty="0">
              <a:latin typeface="Verdana" panose="020B0604030504040204" pitchFamily="34" charset="0"/>
              <a:ea typeface="Verdana" panose="020B0604030504040204" pitchFamily="34" charset="0"/>
            </a:endParaRPr>
          </a:p>
        </p:txBody>
      </p:sp>
      <p:sp>
        <p:nvSpPr>
          <p:cNvPr id="17" name="Text 12"/>
          <p:cNvSpPr/>
          <p:nvPr/>
        </p:nvSpPr>
        <p:spPr>
          <a:xfrm>
            <a:off x="1828800" y="5102352"/>
            <a:ext cx="9418320" cy="365760"/>
          </a:xfrm>
          <a:prstGeom prst="rect">
            <a:avLst/>
          </a:prstGeom>
          <a:noFill/>
          <a:ln/>
        </p:spPr>
        <p:txBody>
          <a:bodyPr wrap="square" rtlCol="0" anchor="ctr"/>
          <a:lstStyle/>
          <a:p>
            <a:pPr marL="0" indent="0">
              <a:buNone/>
            </a:pPr>
            <a:r>
              <a:rPr lang="en-US" sz="1250" dirty="0">
                <a:solidFill>
                  <a:srgbClr val="6B7280"/>
                </a:solidFill>
                <a:latin typeface="Verdana" panose="020B0604030504040204" pitchFamily="34" charset="0"/>
                <a:ea typeface="Verdana" panose="020B0604030504040204" pitchFamily="34" charset="0"/>
                <a:cs typeface="Calibri" pitchFamily="34" charset="-120"/>
              </a:rPr>
              <a:t>Switching the checkout screen from sample data to your real one.</a:t>
            </a:r>
            <a:endParaRPr lang="en-US" sz="1250" dirty="0">
              <a:latin typeface="Verdana" panose="020B0604030504040204" pitchFamily="34" charset="0"/>
              <a:ea typeface="Verdana" panose="020B0604030504040204" pitchFamily="34" charset="0"/>
            </a:endParaRPr>
          </a:p>
        </p:txBody>
      </p:sp>
      <p:sp>
        <p:nvSpPr>
          <p:cNvPr id="18" name="Text 13"/>
          <p:cNvSpPr/>
          <p:nvPr/>
        </p:nvSpPr>
        <p:spPr>
          <a:xfrm>
            <a:off x="640080" y="6400800"/>
            <a:ext cx="4572000" cy="274320"/>
          </a:xfrm>
          <a:prstGeom prst="rect">
            <a:avLst/>
          </a:prstGeom>
          <a:noFill/>
          <a:ln/>
        </p:spPr>
        <p:txBody>
          <a:bodyPr wrap="square" rtlCol="0" anchor="ctr"/>
          <a:lstStyle/>
          <a:p>
            <a:pPr marL="0" indent="0">
              <a:buNone/>
            </a:pPr>
            <a:r>
              <a:rPr lang="en-US" sz="900" kern="0" spc="100" dirty="0">
                <a:solidFill>
                  <a:srgbClr val="6B7280"/>
                </a:solidFill>
                <a:latin typeface="Verdana" panose="020B0604030504040204" pitchFamily="34" charset="0"/>
                <a:ea typeface="Verdana" panose="020B0604030504040204" pitchFamily="34" charset="0"/>
                <a:cs typeface="Calibri" pitchFamily="34" charset="-120"/>
              </a:rPr>
              <a:t>CAIDIC HARDWARE POS</a:t>
            </a:r>
            <a:endParaRPr lang="en-US" sz="900" dirty="0">
              <a:latin typeface="Verdana" panose="020B0604030504040204" pitchFamily="34" charset="0"/>
              <a:ea typeface="Verdana" panose="020B0604030504040204" pitchFamily="34" charset="0"/>
            </a:endParaRPr>
          </a:p>
        </p:txBody>
      </p:sp>
      <p:sp>
        <p:nvSpPr>
          <p:cNvPr id="19" name="Text 14"/>
          <p:cNvSpPr/>
          <p:nvPr/>
        </p:nvSpPr>
        <p:spPr>
          <a:xfrm>
            <a:off x="11002975" y="6400800"/>
            <a:ext cx="548640" cy="274320"/>
          </a:xfrm>
          <a:prstGeom prst="rect">
            <a:avLst/>
          </a:prstGeom>
          <a:noFill/>
          <a:ln/>
        </p:spPr>
        <p:txBody>
          <a:bodyPr wrap="square" rtlCol="0" anchor="ctr"/>
          <a:lstStyle/>
          <a:p>
            <a:pPr marL="0" indent="0" algn="r">
              <a:buNone/>
            </a:pPr>
            <a:r>
              <a:rPr lang="en-US" sz="900" dirty="0">
                <a:solidFill>
                  <a:srgbClr val="6B7280"/>
                </a:solidFill>
                <a:latin typeface="Verdana" panose="020B0604030504040204" pitchFamily="34" charset="0"/>
                <a:ea typeface="Verdana" panose="020B0604030504040204" pitchFamily="34" charset="0"/>
                <a:cs typeface="Calibri" pitchFamily="34" charset="-120"/>
              </a:rPr>
              <a:t>11</a:t>
            </a:r>
            <a:endParaRPr lang="en-US" sz="900" dirty="0">
              <a:latin typeface="Verdana" panose="020B0604030504040204" pitchFamily="34" charset="0"/>
              <a:ea typeface="Verdana" panose="020B060403050404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E"/>
        </a:solidFill>
        <a:effectLst/>
      </p:bgPr>
    </p:bg>
    <p:spTree>
      <p:nvGrpSpPr>
        <p:cNvPr id="1" name=""/>
        <p:cNvGrpSpPr/>
        <p:nvPr/>
      </p:nvGrpSpPr>
      <p:grpSpPr>
        <a:xfrm>
          <a:off x="0" y="0"/>
          <a:ext cx="0" cy="0"/>
          <a:chOff x="0" y="0"/>
          <a:chExt cx="0" cy="0"/>
        </a:xfrm>
      </p:grpSpPr>
      <p:sp>
        <p:nvSpPr>
          <p:cNvPr id="2" name="Shape 0"/>
          <p:cNvSpPr/>
          <p:nvPr/>
        </p:nvSpPr>
        <p:spPr>
          <a:xfrm>
            <a:off x="5638648" y="685800"/>
            <a:ext cx="914400" cy="914400"/>
          </a:xfrm>
          <a:prstGeom prst="ellipse">
            <a:avLst/>
          </a:prstGeom>
          <a:solidFill>
            <a:srgbClr val="1E2F47"/>
          </a:solidFill>
          <a:ln/>
        </p:spPr>
        <p:txBody>
          <a:bodyPr/>
          <a:lstStyle/>
          <a:p>
            <a:endParaRPr lang="en-PH">
              <a:latin typeface="Verdana" panose="020B0604030504040204" pitchFamily="34" charset="0"/>
              <a:ea typeface="Verdana" panose="020B0604030504040204" pitchFamily="34" charset="0"/>
            </a:endParaRPr>
          </a:p>
        </p:txBody>
      </p:sp>
      <p:pic>
        <p:nvPicPr>
          <p:cNvPr id="3" name="Image 0" descr="/home/claude/pos-meeting/icons/checkcircle_white.png"/>
          <p:cNvPicPr>
            <a:picLocks noChangeAspect="1"/>
          </p:cNvPicPr>
          <p:nvPr/>
        </p:nvPicPr>
        <p:blipFill>
          <a:blip r:embed="rId3"/>
          <a:stretch>
            <a:fillRect/>
          </a:stretch>
        </p:blipFill>
        <p:spPr>
          <a:xfrm>
            <a:off x="5867248" y="914400"/>
            <a:ext cx="457200" cy="457200"/>
          </a:xfrm>
          <a:prstGeom prst="rect">
            <a:avLst/>
          </a:prstGeom>
        </p:spPr>
      </p:pic>
      <p:sp>
        <p:nvSpPr>
          <p:cNvPr id="4" name="Text 1"/>
          <p:cNvSpPr/>
          <p:nvPr/>
        </p:nvSpPr>
        <p:spPr>
          <a:xfrm>
            <a:off x="731520" y="1737360"/>
            <a:ext cx="10728655" cy="822960"/>
          </a:xfrm>
          <a:prstGeom prst="rect">
            <a:avLst/>
          </a:prstGeom>
          <a:noFill/>
          <a:ln/>
        </p:spPr>
        <p:txBody>
          <a:bodyPr wrap="square" rtlCol="0" anchor="ctr"/>
          <a:lstStyle/>
          <a:p>
            <a:pPr marL="0" indent="0" algn="ctr">
              <a:buNone/>
            </a:pPr>
            <a:r>
              <a:rPr lang="en-US" sz="3800" b="1" dirty="0">
                <a:solidFill>
                  <a:srgbClr val="FFFFFF"/>
                </a:solidFill>
                <a:latin typeface="Verdana" panose="020B0604030504040204" pitchFamily="34" charset="0"/>
                <a:ea typeface="Verdana" panose="020B0604030504040204" pitchFamily="34" charset="0"/>
                <a:cs typeface="Cambria" pitchFamily="34" charset="-120"/>
              </a:rPr>
              <a:t>Thank You</a:t>
            </a:r>
            <a:endParaRPr lang="en-US" sz="3800" dirty="0">
              <a:latin typeface="Verdana" panose="020B0604030504040204" pitchFamily="34" charset="0"/>
              <a:ea typeface="Verdana" panose="020B0604030504040204" pitchFamily="34" charset="0"/>
            </a:endParaRPr>
          </a:p>
        </p:txBody>
      </p:sp>
      <p:sp>
        <p:nvSpPr>
          <p:cNvPr id="5" name="Text 2"/>
          <p:cNvSpPr/>
          <p:nvPr/>
        </p:nvSpPr>
        <p:spPr>
          <a:xfrm>
            <a:off x="0" y="2514600"/>
            <a:ext cx="12191695" cy="365760"/>
          </a:xfrm>
          <a:prstGeom prst="rect">
            <a:avLst/>
          </a:prstGeom>
          <a:noFill/>
          <a:ln/>
        </p:spPr>
        <p:txBody>
          <a:bodyPr wrap="square" rtlCol="0" anchor="ctr"/>
          <a:lstStyle/>
          <a:p>
            <a:pPr marL="0" indent="0" algn="ctr">
              <a:buNone/>
            </a:pPr>
            <a:endParaRPr lang="en-US" sz="1300" dirty="0">
              <a:latin typeface="Verdana" panose="020B0604030504040204" pitchFamily="34" charset="0"/>
              <a:ea typeface="Verdana" panose="020B0604030504040204" pitchFamily="34" charset="0"/>
            </a:endParaRPr>
          </a:p>
        </p:txBody>
      </p:sp>
      <p:sp>
        <p:nvSpPr>
          <p:cNvPr id="14" name="Text 11"/>
          <p:cNvSpPr/>
          <p:nvPr/>
        </p:nvSpPr>
        <p:spPr>
          <a:xfrm>
            <a:off x="-1" y="3566160"/>
            <a:ext cx="12191695" cy="640080"/>
          </a:xfrm>
          <a:prstGeom prst="rect">
            <a:avLst/>
          </a:prstGeom>
          <a:noFill/>
          <a:ln/>
        </p:spPr>
        <p:txBody>
          <a:bodyPr wrap="square" rtlCol="0" anchor="ctr"/>
          <a:lstStyle/>
          <a:p>
            <a:pPr marL="0" indent="0" algn="ctr">
              <a:buNone/>
            </a:pPr>
            <a:r>
              <a:rPr lang="en-US" sz="2600" b="1" dirty="0">
                <a:solidFill>
                  <a:srgbClr val="CADCFC"/>
                </a:solidFill>
                <a:latin typeface="Verdana" panose="020B0604030504040204" pitchFamily="34" charset="0"/>
                <a:ea typeface="Verdana" panose="020B0604030504040204" pitchFamily="34" charset="0"/>
                <a:cs typeface="Cambria" pitchFamily="34" charset="-120"/>
              </a:rPr>
              <a:t>Any Questions?</a:t>
            </a:r>
            <a:endParaRPr lang="en-US" sz="2600" dirty="0">
              <a:latin typeface="Verdana" panose="020B0604030504040204" pitchFamily="34" charset="0"/>
              <a:ea typeface="Verdana" panose="020B0604030504040204" pitchFamily="34" charset="0"/>
            </a:endParaRPr>
          </a:p>
        </p:txBody>
      </p:sp>
      <p:sp>
        <p:nvSpPr>
          <p:cNvPr id="15" name="Text 12"/>
          <p:cNvSpPr/>
          <p:nvPr/>
        </p:nvSpPr>
        <p:spPr>
          <a:xfrm>
            <a:off x="0" y="6172200"/>
            <a:ext cx="12191695" cy="365760"/>
          </a:xfrm>
          <a:prstGeom prst="rect">
            <a:avLst/>
          </a:prstGeom>
          <a:noFill/>
          <a:ln/>
        </p:spPr>
        <p:txBody>
          <a:bodyPr wrap="square" rtlCol="0" anchor="ctr"/>
          <a:lstStyle/>
          <a:p>
            <a:pPr marL="0" indent="0" algn="ctr">
              <a:buNone/>
            </a:pPr>
            <a:endParaRPr lang="en-US" sz="1100" dirty="0">
              <a:latin typeface="Verdana" panose="020B0604030504040204" pitchFamily="34" charset="0"/>
              <a:ea typeface="Verdana" panose="020B060403050404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621</Words>
  <Application>Microsoft Office PowerPoint</Application>
  <PresentationFormat>Widescreen</PresentationFormat>
  <Paragraphs>115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Hye Won</cp:lastModifiedBy>
  <cp:revision>13</cp:revision>
  <dcterms:created xsi:type="dcterms:W3CDTF">2026-08-22T22:53:34Z</dcterms:created>
  <dcterms:modified xsi:type="dcterms:W3CDTF">2026-08-23T03:46:53Z</dcterms:modified>
</cp:coreProperties>
</file>